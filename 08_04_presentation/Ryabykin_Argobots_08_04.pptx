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9"/>
  </p:notesMasterIdLst>
  <p:sldIdLst>
    <p:sldId id="256" r:id="rId2"/>
    <p:sldId id="277" r:id="rId3"/>
    <p:sldId id="282" r:id="rId4"/>
    <p:sldId id="283" r:id="rId5"/>
    <p:sldId id="285" r:id="rId6"/>
    <p:sldId id="286" r:id="rId7"/>
    <p:sldId id="299" r:id="rId8"/>
    <p:sldId id="300" r:id="rId9"/>
    <p:sldId id="284" r:id="rId10"/>
    <p:sldId id="288" r:id="rId11"/>
    <p:sldId id="296" r:id="rId12"/>
    <p:sldId id="297" r:id="rId13"/>
    <p:sldId id="298" r:id="rId14"/>
    <p:sldId id="289" r:id="rId15"/>
    <p:sldId id="291" r:id="rId16"/>
    <p:sldId id="290" r:id="rId17"/>
    <p:sldId id="281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AC2D0F-FA49-46B2-A7D8-0BD019907A2A}" type="datetimeFigureOut">
              <a:rPr lang="ru-RU" smtClean="0"/>
              <a:t>08.04.2025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DA8AAF-6B13-4F44-BDB2-1D2B1FD321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5726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A8AAF-6B13-4F44-BDB2-1D2B1FD321E4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02584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A8AAF-6B13-4F44-BDB2-1D2B1FD321E4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27221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A8AAF-6B13-4F44-BDB2-1D2B1FD321E4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45923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A8AAF-6B13-4F44-BDB2-1D2B1FD321E4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50846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3581DD-7E4D-8092-16FE-D15B40D87E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D749324-2811-03B5-8178-047458726A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3DC53D7-941A-6964-9394-DAA6D3694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FA6B7-0FE0-41FC-B940-20AFA1B1F3B3}" type="datetime1">
              <a:rPr lang="ru-RU" smtClean="0"/>
              <a:t>08.04.2025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C378698-73B9-ED9C-DB50-B42D1875E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5C4CC4D-C612-9F1F-FE69-6874C0276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7CC-CB90-4A98-9AE2-791F6193C3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9045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FFDDC6-7357-A3C5-683F-96FB1349C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B79CD2-E9EC-E5DF-0070-D094D3FDD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3783818-4713-4281-0748-F22355E26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C2D51-EDF0-4164-BC9D-534339A6EF92}" type="datetime1">
              <a:rPr lang="ru-RU" smtClean="0"/>
              <a:t>08.04.2025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A856FFB-EDE2-428C-13BD-6EA7C6CD6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41ED08-455A-FFF5-17A1-DCD61D0DC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7CC-CB90-4A98-9AE2-791F6193C3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6250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0148A7-A6D7-5F22-D435-5A19060F0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8325430-457C-4105-A19B-919511CA6A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CAF850A-539E-AEE3-989E-EC50EBBC3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60E66-68ED-4A4A-A24C-84B06D20722F}" type="datetime1">
              <a:rPr lang="ru-RU" smtClean="0"/>
              <a:t>08.04.2025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1D38FAF-CA8A-53C4-00EA-DE1F339A2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48FCB4F-6AC2-0D1C-5DEA-47AF61B1B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7CC-CB90-4A98-9AE2-791F6193C3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0582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FC71D-44FF-7ABB-3692-427555771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58AEA7-1EC0-94CC-0C7D-ECB2757131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D521ED4-77BA-0908-4062-7E2402B1B2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C40B06A-A34A-3AB7-60D0-FD5A83DCF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35392-D4E7-41F1-984A-32996EB868F8}" type="datetime1">
              <a:rPr lang="ru-RU" smtClean="0"/>
              <a:t>08.04.2025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0756B9A-02D6-DAAC-5FEC-5B8180CC2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6282A07-BA5C-D763-8BE0-A4279109A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7CC-CB90-4A98-9AE2-791F6193C3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4382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12AA12-E4AD-E84A-B40C-5D06D9A1F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BB6E1C2-815B-F13E-E3CD-8DBBAF0E0E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D55C5CD-AF45-ED37-8316-1E88FC63AC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4170342-7FBC-DADA-35C5-A0516D22BE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501EE68-A831-B4A3-F425-1D4E655B39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E0663A5-B377-E028-47F7-744E4835F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54D6F-6FE6-4D10-96D6-810A2D7A2338}" type="datetime1">
              <a:rPr lang="ru-RU" smtClean="0"/>
              <a:t>08.04.2025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B7022E9-5FBD-7A2C-6E25-09EA567CB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3DABE11-935A-E930-6DA8-9A74A226D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7CC-CB90-4A98-9AE2-791F6193C3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6899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A9C401-10CB-24DB-3A30-4DEFE5ED2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17D9600-47FB-6DBF-9990-B14ADEC56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1B162-CD1E-4379-B744-419C51B6572A}" type="datetime1">
              <a:rPr lang="ru-RU" smtClean="0"/>
              <a:t>08.04.2025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B8CA0D7-B6F8-EEBA-760C-D9CEDA36B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7A881AC-D824-0EAB-A59C-104C5CC03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7CC-CB90-4A98-9AE2-791F6193C3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3777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454BA08-0DBB-C818-F0D3-570678DFA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4B6B1-25CA-4779-A542-11992C7421E6}" type="datetime1">
              <a:rPr lang="ru-RU" smtClean="0"/>
              <a:t>08.04.2025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B225B62-6199-33F4-51F8-2C29532D4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95910C-9457-4407-60A3-9F5B9225E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7CC-CB90-4A98-9AE2-791F6193C3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6688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76FE55-71C2-A6F6-192F-5E96B47C3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3C3DD8-38FF-E184-9B56-41B56BE01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FE7F3F3-1C03-5270-ADAB-7C3C029B1B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12B236D-B71F-E4F3-5315-0B3B3DCB4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12CD4-417F-4E3B-A726-891AA0D00591}" type="datetime1">
              <a:rPr lang="ru-RU" smtClean="0"/>
              <a:t>08.04.2025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05F91B8-C1CD-0290-5323-5109EA01C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C7F1551-D5A0-796F-0D74-088F6F9A1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7CC-CB90-4A98-9AE2-791F6193C3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9131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25D416-81B6-D098-E8CD-DCE7F30BD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99D0D43-0B64-FCAF-3D80-9AB67862CF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5344692-C836-2002-9653-91942B458C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2CC0282-4DD2-4B04-C175-51944302D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87DA8-AA0E-4D64-A0D5-386395B502D3}" type="datetime1">
              <a:rPr lang="ru-RU" smtClean="0"/>
              <a:t>08.04.2025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6614F2B-4926-790E-C637-5579F17F9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8668478-2F73-3014-CE12-784E18EE2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7CC-CB90-4A98-9AE2-791F6193C3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1075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04D57D-CA5A-3D62-AF2B-E52E9491B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BBA3280-3B3B-E171-76B3-7A42B0B5CA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C1C718C-EBB4-FE2A-BF28-1EF492AE4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5BA01-2769-4A36-A4D1-930A1AD6E3EA}" type="datetime1">
              <a:rPr lang="ru-RU" smtClean="0"/>
              <a:t>08.04.2025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C573D1E-0EE1-6A99-68E7-15C72BCF9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B167BBA-9BCE-E19D-00C5-A865F35A0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7CC-CB90-4A98-9AE2-791F6193C3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2602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3ADBA15-A8AF-2A36-8304-55EC56DD0E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5ACE381-F480-9BDF-174A-0FD3156DBC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821291B-CDAF-C1A9-4BBC-0FAE1D68A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B43B0-B137-46AD-B825-50C36698E66C}" type="datetime1">
              <a:rPr lang="ru-RU" smtClean="0"/>
              <a:t>08.04.2025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B51248F-6E28-6174-BF7B-AA547B35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BF6AA2-7D91-5F8B-856A-AE011C36F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7CC-CB90-4A98-9AE2-791F6193C3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1364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11E26C-85FD-969D-BAEA-3A963A524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7F60479-057C-A044-A41B-38ECBBF94E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59EAF33-78D4-A1AB-E1EF-16508DE6C4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4DF618-E582-48A0-9D27-9ACD42033384}" type="datetime1">
              <a:rPr lang="ru-RU" smtClean="0"/>
              <a:t>08.04.2025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2DB54D7-99A9-24B6-3A9A-D8CBD8C7FB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986AA0F-9554-A1D0-EC5D-5612CEAD6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5F67CC-CB90-4A98-9AE2-791F6193C3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4469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738B05-E4F1-FEB5-5D15-DD18E5C7CF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66137"/>
            <a:ext cx="9144000" cy="2387600"/>
          </a:xfrm>
        </p:spPr>
        <p:txBody>
          <a:bodyPr>
            <a:noAutofit/>
          </a:bodyPr>
          <a:lstStyle/>
          <a:p>
            <a:r>
              <a:rPr lang="ru-RU" sz="3600" dirty="0"/>
              <a:t>Автоматизация разработки параллельных программ с помощью библиотеки легковесных нитей пользовательского уровня</a:t>
            </a:r>
            <a:br>
              <a:rPr lang="ru-RU" sz="3600" dirty="0"/>
            </a:br>
            <a:endParaRPr lang="ru-RU" sz="36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664A1B4-4981-66B2-8B8F-7E5BAA8FAA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64861" y="5104322"/>
            <a:ext cx="9144000" cy="1655762"/>
          </a:xfrm>
        </p:spPr>
        <p:txBody>
          <a:bodyPr>
            <a:normAutofit/>
          </a:bodyPr>
          <a:lstStyle/>
          <a:p>
            <a:pPr algn="r"/>
            <a:r>
              <a:rPr lang="ru-RU" sz="2000" dirty="0"/>
              <a:t>Рябыкин Владислав Александрович, 427 группа</a:t>
            </a:r>
          </a:p>
          <a:p>
            <a:pPr algn="r"/>
            <a:r>
              <a:rPr lang="ru-RU" sz="2000" b="1" dirty="0"/>
              <a:t>Научный руководитель:</a:t>
            </a:r>
          </a:p>
          <a:p>
            <a:pPr algn="r"/>
            <a:r>
              <a:rPr lang="ru-RU" sz="2000" dirty="0"/>
              <a:t>Катаев Никита Андреевич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A8AEE5-27B2-B24D-810A-6FE6C24DEFF8}"/>
              </a:ext>
            </a:extLst>
          </p:cNvPr>
          <p:cNvSpPr txBox="1"/>
          <p:nvPr/>
        </p:nvSpPr>
        <p:spPr>
          <a:xfrm>
            <a:off x="5308765" y="6390752"/>
            <a:ext cx="1574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Москва, 2025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703BAD-E435-87DB-8E4F-EC9DB3C4C12B}"/>
              </a:ext>
            </a:extLst>
          </p:cNvPr>
          <p:cNvSpPr txBox="1"/>
          <p:nvPr/>
        </p:nvSpPr>
        <p:spPr>
          <a:xfrm>
            <a:off x="2445802" y="97916"/>
            <a:ext cx="7300396" cy="1298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1800" dirty="0"/>
              <a:t>Московский государственный университет имени М. В. Ломоносова</a:t>
            </a:r>
            <a:br>
              <a:rPr lang="ru-RU" sz="1800" dirty="0"/>
            </a:br>
            <a:r>
              <a:rPr lang="ru-RU" sz="1800" dirty="0"/>
              <a:t>Факультет вычислительной математики и кибернетики</a:t>
            </a:r>
            <a:br>
              <a:rPr lang="ru-RU" sz="1800" dirty="0"/>
            </a:br>
            <a:r>
              <a:rPr lang="ru-RU" sz="1800" dirty="0"/>
              <a:t>Кафедра системного программирования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61875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5E773-39D4-9C1F-F6E1-FFA12006E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2A8E323-A6BF-0F4E-887C-B45C799EA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7CC-CB90-4A98-9AE2-791F6193C32F}" type="slidenum">
              <a:rPr lang="ru-RU" smtClean="0"/>
              <a:t>2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63C721-2944-19ED-33DC-5CF3D2F1490E}"/>
              </a:ext>
            </a:extLst>
          </p:cNvPr>
          <p:cNvSpPr txBox="1"/>
          <p:nvPr/>
        </p:nvSpPr>
        <p:spPr>
          <a:xfrm>
            <a:off x="341643" y="160774"/>
            <a:ext cx="75764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</a:rPr>
              <a:t>Введение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AEE068-87FB-58BC-ECAF-F97B1C4C51A7}"/>
              </a:ext>
            </a:extLst>
          </p:cNvPr>
          <p:cNvSpPr txBox="1"/>
          <p:nvPr/>
        </p:nvSpPr>
        <p:spPr>
          <a:xfrm>
            <a:off x="341643" y="1245997"/>
            <a:ext cx="11113477" cy="4471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i="0" dirty="0" err="1">
                <a:solidFill>
                  <a:srgbClr val="383635"/>
                </a:solidFill>
                <a:effectLst/>
                <a:latin typeface="Helvetica Neue"/>
              </a:rPr>
              <a:t>Argobots</a:t>
            </a:r>
            <a:r>
              <a:rPr lang="en-US" sz="2400" b="1" i="0" dirty="0">
                <a:solidFill>
                  <a:srgbClr val="383635"/>
                </a:solidFill>
                <a:effectLst/>
                <a:latin typeface="Helvetica Neue"/>
              </a:rPr>
              <a:t>: A Lightweight Low-level Threading Framework</a:t>
            </a:r>
            <a:endParaRPr lang="ru-RU" sz="2400" b="1" i="0" dirty="0">
              <a:solidFill>
                <a:srgbClr val="383635"/>
              </a:solidFill>
              <a:effectLst/>
              <a:latin typeface="Helvetica Neue"/>
            </a:endParaRPr>
          </a:p>
          <a:p>
            <a:pPr>
              <a:lnSpc>
                <a:spcPct val="150000"/>
              </a:lnSpc>
            </a:pPr>
            <a:r>
              <a:rPr lang="ru-RU" sz="2400" dirty="0">
                <a:solidFill>
                  <a:srgbClr val="383635"/>
                </a:solidFill>
              </a:rPr>
              <a:t>Многопоточная библиотека на </a:t>
            </a:r>
            <a:r>
              <a:rPr lang="en-US" sz="2400" dirty="0">
                <a:solidFill>
                  <a:srgbClr val="383635"/>
                </a:solidFill>
              </a:rPr>
              <a:t>C </a:t>
            </a:r>
            <a:r>
              <a:rPr lang="ru-RU" sz="2400" dirty="0">
                <a:solidFill>
                  <a:srgbClr val="383635"/>
                </a:solidFill>
              </a:rPr>
              <a:t>для разработки параллельных программ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ru-RU" sz="2400" dirty="0"/>
              <a:t>Плюсы: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2400" dirty="0"/>
              <a:t>Открытый исходный код (</a:t>
            </a:r>
            <a:r>
              <a:rPr lang="en-US" sz="2400" dirty="0" err="1"/>
              <a:t>OpenSource</a:t>
            </a:r>
            <a:r>
              <a:rPr lang="en-US" sz="2400" dirty="0"/>
              <a:t>);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2400" dirty="0"/>
              <a:t>Гибкость настройки</a:t>
            </a:r>
            <a:r>
              <a:rPr lang="en-US" sz="2400" dirty="0"/>
              <a:t>;</a:t>
            </a:r>
            <a:endParaRPr lang="ru-RU" sz="2400" dirty="0"/>
          </a:p>
          <a:p>
            <a:pPr>
              <a:lnSpc>
                <a:spcPct val="150000"/>
              </a:lnSpc>
            </a:pPr>
            <a:r>
              <a:rPr lang="ru-RU" sz="2400" dirty="0"/>
              <a:t>Минусы: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2400" dirty="0"/>
              <a:t>Отсутствие операции редукции</a:t>
            </a:r>
            <a:r>
              <a:rPr lang="en-US" sz="2400" dirty="0"/>
              <a:t>;</a:t>
            </a:r>
            <a:endParaRPr lang="ru-RU" sz="2400" dirty="0"/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2400" dirty="0"/>
              <a:t>Отсутствие планировщика с кражей задач</a:t>
            </a:r>
            <a:r>
              <a:rPr lang="en-US" sz="2400" dirty="0"/>
              <a:t>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383581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613E6-78D3-CE30-8B91-2BED064B7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4375EA0-21C6-887B-0FB1-DC5A59CE3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7CC-CB90-4A98-9AE2-791F6193C32F}" type="slidenum">
              <a:rPr lang="ru-RU" smtClean="0"/>
              <a:t>3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03C809-1988-9C8D-6316-D01202BC486E}"/>
              </a:ext>
            </a:extLst>
          </p:cNvPr>
          <p:cNvSpPr txBox="1"/>
          <p:nvPr/>
        </p:nvSpPr>
        <p:spPr>
          <a:xfrm>
            <a:off x="341643" y="160774"/>
            <a:ext cx="75764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</a:rPr>
              <a:t>Постановка задачи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CA061A-F8D7-C67C-11EC-959DB5B1F3D7}"/>
              </a:ext>
            </a:extLst>
          </p:cNvPr>
          <p:cNvSpPr txBox="1"/>
          <p:nvPr/>
        </p:nvSpPr>
        <p:spPr>
          <a:xfrm>
            <a:off x="341643" y="1245997"/>
            <a:ext cx="11113477" cy="502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/>
              <a:t>Цель работы </a:t>
            </a:r>
            <a:r>
              <a:rPr lang="ru-RU" sz="2400" dirty="0"/>
              <a:t>– добавить новую функциональность в библиотеку </a:t>
            </a:r>
            <a:r>
              <a:rPr lang="en-US" sz="2400" dirty="0" err="1"/>
              <a:t>Argobots</a:t>
            </a:r>
            <a:r>
              <a:rPr lang="en-US" sz="2400" dirty="0"/>
              <a:t>, </a:t>
            </a:r>
            <a:r>
              <a:rPr lang="ru-RU" sz="2400" dirty="0"/>
              <a:t>позволяющую использовать её для автоматизации разработки параллельных программ.</a:t>
            </a:r>
          </a:p>
          <a:p>
            <a:pPr>
              <a:lnSpc>
                <a:spcPct val="150000"/>
              </a:lnSpc>
            </a:pPr>
            <a:r>
              <a:rPr lang="ru-RU" sz="2400" b="1" dirty="0"/>
              <a:t>Задачи:</a:t>
            </a:r>
            <a:endParaRPr lang="ru-RU" sz="2400" dirty="0"/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ru-RU" sz="2400" dirty="0"/>
              <a:t>Разработать и </a:t>
            </a:r>
            <a:r>
              <a:rPr lang="ru-RU" sz="2400" dirty="0" err="1"/>
              <a:t>программно</a:t>
            </a:r>
            <a:r>
              <a:rPr lang="ru-RU" sz="2400" dirty="0"/>
              <a:t> реализовать алгоритм для редукции в </a:t>
            </a:r>
            <a:r>
              <a:rPr lang="en-US" sz="2400" dirty="0" err="1"/>
              <a:t>Argobots</a:t>
            </a:r>
            <a:r>
              <a:rPr lang="en-US" sz="2400" dirty="0"/>
              <a:t>;</a:t>
            </a:r>
            <a:endParaRPr lang="ru-RU" sz="2400" dirty="0"/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ru-RU" sz="2400" dirty="0"/>
              <a:t>Разработать и </a:t>
            </a:r>
            <a:r>
              <a:rPr lang="ru-RU" sz="2400" dirty="0" err="1"/>
              <a:t>программно</a:t>
            </a:r>
            <a:r>
              <a:rPr lang="ru-RU" sz="2400" dirty="0"/>
              <a:t> реализовать алгоритм планировщика с кражей задач в </a:t>
            </a:r>
            <a:r>
              <a:rPr lang="en-US" sz="2400" dirty="0" err="1"/>
              <a:t>Argobots</a:t>
            </a:r>
            <a:r>
              <a:rPr lang="en-US" sz="2400" dirty="0"/>
              <a:t>;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ru-RU" sz="2400" dirty="0"/>
              <a:t>Написать тесты для проверки полученных реализаций</a:t>
            </a:r>
            <a:r>
              <a:rPr lang="en-US" sz="2400" dirty="0"/>
              <a:t>;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ru-RU" sz="2400" dirty="0"/>
              <a:t>Проанализировать полученные результаты запуска тестов.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90811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4E414-718E-35CB-6B99-94A79BEFA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5A501C2-2699-B30A-8A39-F9292482E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7CC-CB90-4A98-9AE2-791F6193C32F}" type="slidenum">
              <a:rPr lang="ru-RU" smtClean="0"/>
              <a:t>4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143C2D-2D1F-643A-C593-FBA690FF44A7}"/>
              </a:ext>
            </a:extLst>
          </p:cNvPr>
          <p:cNvSpPr txBox="1"/>
          <p:nvPr/>
        </p:nvSpPr>
        <p:spPr>
          <a:xfrm>
            <a:off x="341643" y="160774"/>
            <a:ext cx="75764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</a:rPr>
              <a:t>Редукция</a:t>
            </a:r>
            <a:r>
              <a:rPr lang="en-US" sz="3600" dirty="0">
                <a:solidFill>
                  <a:schemeClr val="bg1"/>
                </a:solidFill>
              </a:rPr>
              <a:t>. </a:t>
            </a:r>
            <a:r>
              <a:rPr lang="ru-RU" sz="3600" dirty="0">
                <a:solidFill>
                  <a:schemeClr val="bg1"/>
                </a:solidFill>
              </a:rPr>
              <a:t>Наивная реализация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882B12-10B3-522E-1693-29DC7BCE4A21}"/>
              </a:ext>
            </a:extLst>
          </p:cNvPr>
          <p:cNvSpPr txBox="1"/>
          <p:nvPr/>
        </p:nvSpPr>
        <p:spPr>
          <a:xfrm>
            <a:off x="203200" y="1097280"/>
            <a:ext cx="689874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Редукция своей части массива</a:t>
            </a:r>
          </a:p>
          <a:p>
            <a:r>
              <a:rPr lang="ru-RU" sz="2400" dirty="0">
                <a:solidFill>
                  <a:srgbClr val="FF0000"/>
                </a:solidFill>
              </a:rPr>
              <a:t>Заблокировать мьютекс</a:t>
            </a:r>
          </a:p>
          <a:p>
            <a:r>
              <a:rPr lang="ru-RU" sz="2400" dirty="0"/>
              <a:t>Редукция глобального и локального результатов</a:t>
            </a:r>
          </a:p>
          <a:p>
            <a:r>
              <a:rPr lang="ru-RU" sz="2400" dirty="0">
                <a:solidFill>
                  <a:srgbClr val="00B050"/>
                </a:solidFill>
              </a:rPr>
              <a:t>Разблокировать мьютекс</a:t>
            </a: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B17A1B1-8099-070D-BEA6-8DA99A640A1D}"/>
              </a:ext>
            </a:extLst>
          </p:cNvPr>
          <p:cNvSpPr txBox="1"/>
          <p:nvPr/>
        </p:nvSpPr>
        <p:spPr>
          <a:xfrm>
            <a:off x="4530541" y="5899016"/>
            <a:ext cx="27270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Глобальный результат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4EC486A-541D-92A5-AB81-153D3800E7F9}"/>
              </a:ext>
            </a:extLst>
          </p:cNvPr>
          <p:cNvSpPr txBox="1"/>
          <p:nvPr/>
        </p:nvSpPr>
        <p:spPr>
          <a:xfrm>
            <a:off x="2390249" y="4055037"/>
            <a:ext cx="28040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Локальные результаты</a:t>
            </a:r>
          </a:p>
        </p:txBody>
      </p:sp>
      <p:grpSp>
        <p:nvGrpSpPr>
          <p:cNvPr id="78" name="Группа 77">
            <a:extLst>
              <a:ext uri="{FF2B5EF4-FFF2-40B4-BE49-F238E27FC236}">
                <a16:creationId xmlns:a16="http://schemas.microsoft.com/office/drawing/2014/main" id="{8EFDC1CA-7026-1023-6B42-FDCB08162E00}"/>
              </a:ext>
            </a:extLst>
          </p:cNvPr>
          <p:cNvGrpSpPr/>
          <p:nvPr/>
        </p:nvGrpSpPr>
        <p:grpSpPr>
          <a:xfrm>
            <a:off x="4842528" y="2666940"/>
            <a:ext cx="5578604" cy="3644436"/>
            <a:chOff x="4842528" y="2666940"/>
            <a:chExt cx="5578604" cy="3644436"/>
          </a:xfrm>
        </p:grpSpPr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24A4EB3A-E499-F62E-DB7B-7A7C6ADB96A6}"/>
                </a:ext>
              </a:extLst>
            </p:cNvPr>
            <p:cNvSpPr/>
            <p:nvPr/>
          </p:nvSpPr>
          <p:spPr>
            <a:xfrm>
              <a:off x="4842528" y="2666940"/>
              <a:ext cx="701040" cy="70104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sz="2800" dirty="0"/>
                <a:t>0</a:t>
              </a:r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1D78D002-BC44-E410-79FD-1A08F3F4C5DC}"/>
                </a:ext>
              </a:extLst>
            </p:cNvPr>
            <p:cNvSpPr/>
            <p:nvPr/>
          </p:nvSpPr>
          <p:spPr>
            <a:xfrm>
              <a:off x="5543568" y="2666940"/>
              <a:ext cx="701040" cy="70104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sz="2800" dirty="0"/>
                <a:t>1</a:t>
              </a:r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325315B9-BB77-BFB8-5697-DB7937ABEA15}"/>
                </a:ext>
              </a:extLst>
            </p:cNvPr>
            <p:cNvSpPr/>
            <p:nvPr/>
          </p:nvSpPr>
          <p:spPr>
            <a:xfrm>
              <a:off x="6229750" y="2666940"/>
              <a:ext cx="701040" cy="70104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sz="2800" dirty="0"/>
                <a:t>2</a:t>
              </a:r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C1321265-B13D-2E10-5BA3-CC834F17E360}"/>
                </a:ext>
              </a:extLst>
            </p:cNvPr>
            <p:cNvSpPr/>
            <p:nvPr/>
          </p:nvSpPr>
          <p:spPr>
            <a:xfrm>
              <a:off x="6930790" y="2666940"/>
              <a:ext cx="701040" cy="70104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sz="2800" dirty="0"/>
                <a:t>3</a:t>
              </a:r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616292E4-7236-8663-D087-5150B03AD2A3}"/>
                </a:ext>
              </a:extLst>
            </p:cNvPr>
            <p:cNvSpPr/>
            <p:nvPr/>
          </p:nvSpPr>
          <p:spPr>
            <a:xfrm>
              <a:off x="7631830" y="2666940"/>
              <a:ext cx="701040" cy="70104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sz="2800" dirty="0"/>
                <a:t>4</a:t>
              </a:r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BEB9DB3E-97F1-DA84-FFCD-E184787B1109}"/>
                </a:ext>
              </a:extLst>
            </p:cNvPr>
            <p:cNvSpPr/>
            <p:nvPr/>
          </p:nvSpPr>
          <p:spPr>
            <a:xfrm>
              <a:off x="8332870" y="2666940"/>
              <a:ext cx="701040" cy="70104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sz="2800" dirty="0"/>
                <a:t>5</a:t>
              </a:r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90B1AD8C-90BB-1E28-DC3B-14168AEE1F9B}"/>
                </a:ext>
              </a:extLst>
            </p:cNvPr>
            <p:cNvSpPr/>
            <p:nvPr/>
          </p:nvSpPr>
          <p:spPr>
            <a:xfrm>
              <a:off x="9019052" y="2666940"/>
              <a:ext cx="701040" cy="70104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sz="2800" dirty="0"/>
                <a:t>6</a:t>
              </a:r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8621E8A8-82C4-1495-6ED2-EB4CCC63D0BD}"/>
                </a:ext>
              </a:extLst>
            </p:cNvPr>
            <p:cNvSpPr/>
            <p:nvPr/>
          </p:nvSpPr>
          <p:spPr>
            <a:xfrm>
              <a:off x="9720092" y="2666940"/>
              <a:ext cx="701040" cy="70104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sz="2800" dirty="0"/>
                <a:t>7</a:t>
              </a:r>
            </a:p>
          </p:txBody>
        </p:sp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C0EF0D29-2A0F-32D4-3173-950F15C8E32D}"/>
                </a:ext>
              </a:extLst>
            </p:cNvPr>
            <p:cNvSpPr/>
            <p:nvPr/>
          </p:nvSpPr>
          <p:spPr>
            <a:xfrm>
              <a:off x="5243848" y="3911479"/>
              <a:ext cx="599440" cy="5994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400" dirty="0">
                  <a:solidFill>
                    <a:schemeClr val="tx1"/>
                  </a:solidFill>
                </a:rPr>
                <a:t>1</a:t>
              </a:r>
            </a:p>
          </p:txBody>
        </p:sp>
        <p:cxnSp>
          <p:nvCxnSpPr>
            <p:cNvPr id="17" name="Прямая со стрелкой 16">
              <a:extLst>
                <a:ext uri="{FF2B5EF4-FFF2-40B4-BE49-F238E27FC236}">
                  <a16:creationId xmlns:a16="http://schemas.microsoft.com/office/drawing/2014/main" id="{7E21B4EC-934B-0326-1681-F6EF0DDAE789}"/>
                </a:ext>
              </a:extLst>
            </p:cNvPr>
            <p:cNvCxnSpPr>
              <a:cxnSpLocks/>
              <a:stCxn id="7" idx="2"/>
              <a:endCxn id="15" idx="1"/>
            </p:cNvCxnSpPr>
            <p:nvPr/>
          </p:nvCxnSpPr>
          <p:spPr>
            <a:xfrm>
              <a:off x="5193048" y="3367980"/>
              <a:ext cx="138586" cy="63128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Прямая со стрелкой 18">
              <a:extLst>
                <a:ext uri="{FF2B5EF4-FFF2-40B4-BE49-F238E27FC236}">
                  <a16:creationId xmlns:a16="http://schemas.microsoft.com/office/drawing/2014/main" id="{97D1A411-AEAA-66C8-5D3B-4888487EA5B2}"/>
                </a:ext>
              </a:extLst>
            </p:cNvPr>
            <p:cNvCxnSpPr>
              <a:cxnSpLocks/>
              <a:stCxn id="8" idx="2"/>
              <a:endCxn id="15" idx="7"/>
            </p:cNvCxnSpPr>
            <p:nvPr/>
          </p:nvCxnSpPr>
          <p:spPr>
            <a:xfrm flipH="1">
              <a:off x="5755502" y="3367980"/>
              <a:ext cx="138586" cy="63128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Овал 19">
              <a:extLst>
                <a:ext uri="{FF2B5EF4-FFF2-40B4-BE49-F238E27FC236}">
                  <a16:creationId xmlns:a16="http://schemas.microsoft.com/office/drawing/2014/main" id="{7EBB86D4-0116-C4B9-FD43-A44327273ED8}"/>
                </a:ext>
              </a:extLst>
            </p:cNvPr>
            <p:cNvSpPr/>
            <p:nvPr/>
          </p:nvSpPr>
          <p:spPr>
            <a:xfrm>
              <a:off x="6632308" y="3911479"/>
              <a:ext cx="599440" cy="5994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400" dirty="0">
                  <a:solidFill>
                    <a:schemeClr val="tx1"/>
                  </a:solidFill>
                </a:rPr>
                <a:t>5</a:t>
              </a:r>
            </a:p>
          </p:txBody>
        </p:sp>
        <p:cxnSp>
          <p:nvCxnSpPr>
            <p:cNvPr id="21" name="Прямая со стрелкой 20">
              <a:extLst>
                <a:ext uri="{FF2B5EF4-FFF2-40B4-BE49-F238E27FC236}">
                  <a16:creationId xmlns:a16="http://schemas.microsoft.com/office/drawing/2014/main" id="{C492B9C1-4FCB-267F-5EF2-838C34DD604B}"/>
                </a:ext>
              </a:extLst>
            </p:cNvPr>
            <p:cNvCxnSpPr>
              <a:cxnSpLocks/>
              <a:stCxn id="9" idx="2"/>
              <a:endCxn id="20" idx="1"/>
            </p:cNvCxnSpPr>
            <p:nvPr/>
          </p:nvCxnSpPr>
          <p:spPr>
            <a:xfrm>
              <a:off x="6580270" y="3367980"/>
              <a:ext cx="139824" cy="63128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Прямая со стрелкой 21">
              <a:extLst>
                <a:ext uri="{FF2B5EF4-FFF2-40B4-BE49-F238E27FC236}">
                  <a16:creationId xmlns:a16="http://schemas.microsoft.com/office/drawing/2014/main" id="{520AEC9E-38E4-EC60-5CAF-6CD4CB1C4F78}"/>
                </a:ext>
              </a:extLst>
            </p:cNvPr>
            <p:cNvCxnSpPr>
              <a:cxnSpLocks/>
              <a:stCxn id="10" idx="2"/>
              <a:endCxn id="20" idx="7"/>
            </p:cNvCxnSpPr>
            <p:nvPr/>
          </p:nvCxnSpPr>
          <p:spPr>
            <a:xfrm flipH="1">
              <a:off x="7143962" y="3367980"/>
              <a:ext cx="137348" cy="63128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Овал 28">
              <a:extLst>
                <a:ext uri="{FF2B5EF4-FFF2-40B4-BE49-F238E27FC236}">
                  <a16:creationId xmlns:a16="http://schemas.microsoft.com/office/drawing/2014/main" id="{5CA19A5F-07A7-2DBA-6BD8-613C5FDB2FF9}"/>
                </a:ext>
              </a:extLst>
            </p:cNvPr>
            <p:cNvSpPr/>
            <p:nvPr/>
          </p:nvSpPr>
          <p:spPr>
            <a:xfrm>
              <a:off x="8018292" y="3911479"/>
              <a:ext cx="599440" cy="5994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400" dirty="0">
                  <a:solidFill>
                    <a:schemeClr val="tx1"/>
                  </a:solidFill>
                </a:rPr>
                <a:t>9</a:t>
              </a:r>
            </a:p>
          </p:txBody>
        </p:sp>
        <p:cxnSp>
          <p:nvCxnSpPr>
            <p:cNvPr id="30" name="Прямая со стрелкой 29">
              <a:extLst>
                <a:ext uri="{FF2B5EF4-FFF2-40B4-BE49-F238E27FC236}">
                  <a16:creationId xmlns:a16="http://schemas.microsoft.com/office/drawing/2014/main" id="{324118A8-D43F-6EEA-BE67-9CA890CC6DB1}"/>
                </a:ext>
              </a:extLst>
            </p:cNvPr>
            <p:cNvCxnSpPr>
              <a:cxnSpLocks/>
              <a:stCxn id="11" idx="2"/>
              <a:endCxn id="29" idx="1"/>
            </p:cNvCxnSpPr>
            <p:nvPr/>
          </p:nvCxnSpPr>
          <p:spPr>
            <a:xfrm>
              <a:off x="7982350" y="3367980"/>
              <a:ext cx="123728" cy="63128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Прямая со стрелкой 30">
              <a:extLst>
                <a:ext uri="{FF2B5EF4-FFF2-40B4-BE49-F238E27FC236}">
                  <a16:creationId xmlns:a16="http://schemas.microsoft.com/office/drawing/2014/main" id="{DF03DD0C-A38F-9625-A718-9544C6B19B61}"/>
                </a:ext>
              </a:extLst>
            </p:cNvPr>
            <p:cNvCxnSpPr>
              <a:cxnSpLocks/>
              <a:stCxn id="12" idx="2"/>
              <a:endCxn id="29" idx="7"/>
            </p:cNvCxnSpPr>
            <p:nvPr/>
          </p:nvCxnSpPr>
          <p:spPr>
            <a:xfrm flipH="1">
              <a:off x="8529946" y="3367980"/>
              <a:ext cx="153444" cy="63128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Овал 41">
              <a:extLst>
                <a:ext uri="{FF2B5EF4-FFF2-40B4-BE49-F238E27FC236}">
                  <a16:creationId xmlns:a16="http://schemas.microsoft.com/office/drawing/2014/main" id="{BC58206E-10EE-A58A-6674-E82293ACD4E8}"/>
                </a:ext>
              </a:extLst>
            </p:cNvPr>
            <p:cNvSpPr/>
            <p:nvPr/>
          </p:nvSpPr>
          <p:spPr>
            <a:xfrm>
              <a:off x="9408436" y="3911479"/>
              <a:ext cx="599440" cy="5994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600" dirty="0">
                  <a:solidFill>
                    <a:schemeClr val="tx1"/>
                  </a:solidFill>
                </a:rPr>
                <a:t>13</a:t>
              </a:r>
            </a:p>
          </p:txBody>
        </p:sp>
        <p:cxnSp>
          <p:nvCxnSpPr>
            <p:cNvPr id="43" name="Прямая со стрелкой 42">
              <a:extLst>
                <a:ext uri="{FF2B5EF4-FFF2-40B4-BE49-F238E27FC236}">
                  <a16:creationId xmlns:a16="http://schemas.microsoft.com/office/drawing/2014/main" id="{9CEF45C5-3EBD-6FCA-9B36-879B58E12A9C}"/>
                </a:ext>
              </a:extLst>
            </p:cNvPr>
            <p:cNvCxnSpPr>
              <a:cxnSpLocks/>
              <a:endCxn id="42" idx="1"/>
            </p:cNvCxnSpPr>
            <p:nvPr/>
          </p:nvCxnSpPr>
          <p:spPr>
            <a:xfrm>
              <a:off x="9372494" y="3367980"/>
              <a:ext cx="123728" cy="63128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Прямая со стрелкой 43">
              <a:extLst>
                <a:ext uri="{FF2B5EF4-FFF2-40B4-BE49-F238E27FC236}">
                  <a16:creationId xmlns:a16="http://schemas.microsoft.com/office/drawing/2014/main" id="{3F63079F-BB75-AC09-F515-0544D0052E30}"/>
                </a:ext>
              </a:extLst>
            </p:cNvPr>
            <p:cNvCxnSpPr>
              <a:cxnSpLocks/>
              <a:endCxn id="42" idx="7"/>
            </p:cNvCxnSpPr>
            <p:nvPr/>
          </p:nvCxnSpPr>
          <p:spPr>
            <a:xfrm flipH="1">
              <a:off x="9920090" y="3367980"/>
              <a:ext cx="153444" cy="63128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Овал 45">
              <a:extLst>
                <a:ext uri="{FF2B5EF4-FFF2-40B4-BE49-F238E27FC236}">
                  <a16:creationId xmlns:a16="http://schemas.microsoft.com/office/drawing/2014/main" id="{D5576A1F-41C5-C323-753B-C4FAF796F33B}"/>
                </a:ext>
              </a:extLst>
            </p:cNvPr>
            <p:cNvSpPr/>
            <p:nvPr/>
          </p:nvSpPr>
          <p:spPr>
            <a:xfrm>
              <a:off x="7332110" y="5711936"/>
              <a:ext cx="599440" cy="5994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600" b="1" dirty="0">
                  <a:solidFill>
                    <a:schemeClr val="tx1"/>
                  </a:solidFill>
                </a:rPr>
                <a:t>28</a:t>
              </a:r>
            </a:p>
          </p:txBody>
        </p:sp>
        <p:cxnSp>
          <p:nvCxnSpPr>
            <p:cNvPr id="49" name="Прямая со стрелкой 48">
              <a:extLst>
                <a:ext uri="{FF2B5EF4-FFF2-40B4-BE49-F238E27FC236}">
                  <a16:creationId xmlns:a16="http://schemas.microsoft.com/office/drawing/2014/main" id="{22BE0B61-D979-D031-5EF1-0B0DCC0FEC8C}"/>
                </a:ext>
              </a:extLst>
            </p:cNvPr>
            <p:cNvCxnSpPr>
              <a:cxnSpLocks/>
              <a:stCxn id="15" idx="4"/>
              <a:endCxn id="46" idx="2"/>
            </p:cNvCxnSpPr>
            <p:nvPr/>
          </p:nvCxnSpPr>
          <p:spPr>
            <a:xfrm>
              <a:off x="5543568" y="4510919"/>
              <a:ext cx="1788542" cy="150073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Прямая со стрелкой 51">
              <a:extLst>
                <a:ext uri="{FF2B5EF4-FFF2-40B4-BE49-F238E27FC236}">
                  <a16:creationId xmlns:a16="http://schemas.microsoft.com/office/drawing/2014/main" id="{282F5CD8-1098-BF78-7099-AFD2F0E4392F}"/>
                </a:ext>
              </a:extLst>
            </p:cNvPr>
            <p:cNvCxnSpPr>
              <a:cxnSpLocks/>
              <a:stCxn id="20" idx="4"/>
              <a:endCxn id="46" idx="1"/>
            </p:cNvCxnSpPr>
            <p:nvPr/>
          </p:nvCxnSpPr>
          <p:spPr>
            <a:xfrm>
              <a:off x="6932028" y="4510919"/>
              <a:ext cx="487868" cy="128880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Прямая со стрелкой 54">
              <a:extLst>
                <a:ext uri="{FF2B5EF4-FFF2-40B4-BE49-F238E27FC236}">
                  <a16:creationId xmlns:a16="http://schemas.microsoft.com/office/drawing/2014/main" id="{7F21FD92-742E-7D11-FD0A-F249D4B326FB}"/>
                </a:ext>
              </a:extLst>
            </p:cNvPr>
            <p:cNvCxnSpPr>
              <a:cxnSpLocks/>
              <a:stCxn id="29" idx="4"/>
              <a:endCxn id="46" idx="7"/>
            </p:cNvCxnSpPr>
            <p:nvPr/>
          </p:nvCxnSpPr>
          <p:spPr>
            <a:xfrm flipH="1">
              <a:off x="7843764" y="4510919"/>
              <a:ext cx="474248" cy="128880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Прямая со стрелкой 57">
              <a:extLst>
                <a:ext uri="{FF2B5EF4-FFF2-40B4-BE49-F238E27FC236}">
                  <a16:creationId xmlns:a16="http://schemas.microsoft.com/office/drawing/2014/main" id="{D466AD96-2016-58F6-9265-F7575EAA8E36}"/>
                </a:ext>
              </a:extLst>
            </p:cNvPr>
            <p:cNvCxnSpPr>
              <a:cxnSpLocks/>
              <a:stCxn id="42" idx="4"/>
              <a:endCxn id="46" idx="6"/>
            </p:cNvCxnSpPr>
            <p:nvPr/>
          </p:nvCxnSpPr>
          <p:spPr>
            <a:xfrm flipH="1">
              <a:off x="7931550" y="4510919"/>
              <a:ext cx="1776606" cy="150073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64612AA6-6764-A19D-4487-7591B2428FA6}"/>
              </a:ext>
            </a:extLst>
          </p:cNvPr>
          <p:cNvSpPr txBox="1"/>
          <p:nvPr/>
        </p:nvSpPr>
        <p:spPr>
          <a:xfrm>
            <a:off x="2264065" y="5033091"/>
            <a:ext cx="40270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Порядок операций не определён</a:t>
            </a:r>
          </a:p>
        </p:txBody>
      </p:sp>
    </p:spTree>
    <p:extLst>
      <p:ext uri="{BB962C8B-B14F-4D97-AF65-F5344CB8AC3E}">
        <p14:creationId xmlns:p14="http://schemas.microsoft.com/office/powerpoint/2010/main" val="631673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77761-FBDA-5857-63C5-F3D099D91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 descr="Изображение выглядит как линия, диаграмма, График, Параллельны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AA217803-C345-6422-3193-DB78A7DAAB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5024" y="2548292"/>
            <a:ext cx="6769139" cy="4061483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1B3EE43-EB7F-D349-DE4C-E3A92A909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7CC-CB90-4A98-9AE2-791F6193C32F}" type="slidenum">
              <a:rPr lang="ru-RU" smtClean="0"/>
              <a:t>5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C3693B-6B8F-B1A2-0EA4-B2527B2E3442}"/>
              </a:ext>
            </a:extLst>
          </p:cNvPr>
          <p:cNvSpPr txBox="1"/>
          <p:nvPr/>
        </p:nvSpPr>
        <p:spPr>
          <a:xfrm>
            <a:off x="341642" y="160774"/>
            <a:ext cx="109359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</a:rPr>
              <a:t>Редукция</a:t>
            </a:r>
            <a:r>
              <a:rPr lang="en-US" sz="3600" dirty="0">
                <a:solidFill>
                  <a:schemeClr val="bg1"/>
                </a:solidFill>
              </a:rPr>
              <a:t>. </a:t>
            </a:r>
            <a:r>
              <a:rPr lang="ru-RU" sz="3600" dirty="0">
                <a:solidFill>
                  <a:schemeClr val="bg1"/>
                </a:solidFill>
              </a:rPr>
              <a:t>Наивная реализация</a:t>
            </a:r>
            <a:r>
              <a:rPr lang="en-US" sz="3600" dirty="0">
                <a:solidFill>
                  <a:schemeClr val="bg1"/>
                </a:solidFill>
              </a:rPr>
              <a:t>. </a:t>
            </a:r>
            <a:r>
              <a:rPr lang="ru-RU" sz="3600" dirty="0">
                <a:solidFill>
                  <a:schemeClr val="bg1"/>
                </a:solidFill>
              </a:rPr>
              <a:t>Результаты тестов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8F6373-B7BA-427C-E577-F053AC953C14}"/>
              </a:ext>
            </a:extLst>
          </p:cNvPr>
          <p:cNvSpPr txBox="1"/>
          <p:nvPr/>
        </p:nvSpPr>
        <p:spPr>
          <a:xfrm>
            <a:off x="341643" y="1245997"/>
            <a:ext cx="3468357" cy="1701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/>
              <a:t>Тесты </a:t>
            </a:r>
            <a:r>
              <a:rPr lang="en-US" sz="2400" b="1" dirty="0"/>
              <a:t>jac3d</a:t>
            </a:r>
          </a:p>
          <a:p>
            <a:pPr>
              <a:lnSpc>
                <a:spcPct val="150000"/>
              </a:lnSpc>
            </a:pPr>
            <a:r>
              <a:rPr lang="ru-RU" sz="2400" dirty="0"/>
              <a:t>Тесты </a:t>
            </a:r>
            <a:r>
              <a:rPr lang="en-US" sz="2400" b="1" dirty="0"/>
              <a:t>NAS CG</a:t>
            </a:r>
            <a:endParaRPr lang="en-US" sz="24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ru-RU" sz="2400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365CE7D-FC8E-56DF-FB4B-FDC6DB7A69D6}"/>
              </a:ext>
            </a:extLst>
          </p:cNvPr>
          <p:cNvSpPr/>
          <p:nvPr/>
        </p:nvSpPr>
        <p:spPr>
          <a:xfrm>
            <a:off x="9469120" y="1195197"/>
            <a:ext cx="2052320" cy="124015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Ubuntu 24.04 LTS</a:t>
            </a:r>
          </a:p>
          <a:p>
            <a:r>
              <a:rPr lang="en-US" dirty="0">
                <a:solidFill>
                  <a:schemeClr val="tx1"/>
                </a:solidFill>
              </a:rPr>
              <a:t>4 </a:t>
            </a:r>
            <a:r>
              <a:rPr lang="ru-RU" dirty="0">
                <a:solidFill>
                  <a:schemeClr val="tx1"/>
                </a:solidFill>
              </a:rPr>
              <a:t>ядра </a:t>
            </a:r>
            <a:r>
              <a:rPr lang="en-US" dirty="0">
                <a:solidFill>
                  <a:schemeClr val="tx1"/>
                </a:solidFill>
              </a:rPr>
              <a:t>Intel 2</a:t>
            </a:r>
            <a:r>
              <a:rPr lang="ru-RU" dirty="0">
                <a:solidFill>
                  <a:schemeClr val="tx1"/>
                </a:solidFill>
              </a:rPr>
              <a:t> ГГц</a:t>
            </a:r>
          </a:p>
          <a:p>
            <a:r>
              <a:rPr lang="en-US" dirty="0">
                <a:solidFill>
                  <a:schemeClr val="tx1"/>
                </a:solidFill>
              </a:rPr>
              <a:t>16 </a:t>
            </a:r>
            <a:r>
              <a:rPr lang="ru-RU" dirty="0">
                <a:solidFill>
                  <a:schemeClr val="tx1"/>
                </a:solidFill>
              </a:rPr>
              <a:t>Гигабайт </a:t>
            </a:r>
            <a:r>
              <a:rPr lang="en-US" dirty="0">
                <a:solidFill>
                  <a:schemeClr val="tx1"/>
                </a:solidFill>
              </a:rPr>
              <a:t>RAM </a:t>
            </a:r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15" name="Рисунок 14" descr="Изображение выглядит как линия, диаграмма, График, текс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35A23665-E076-A95F-B563-9BBAE296F7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7013" y="2633400"/>
            <a:ext cx="6485446" cy="3891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540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E3DCF-C1B5-3EE6-8730-5EFB88D6C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17D8D06-8597-CAB3-D29D-7A239450B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7CC-CB90-4A98-9AE2-791F6193C32F}" type="slidenum">
              <a:rPr lang="ru-RU" smtClean="0"/>
              <a:t>6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AC48B9-A332-D5BB-C91A-8F21D82CE970}"/>
              </a:ext>
            </a:extLst>
          </p:cNvPr>
          <p:cNvSpPr txBox="1"/>
          <p:nvPr/>
        </p:nvSpPr>
        <p:spPr>
          <a:xfrm>
            <a:off x="341643" y="160774"/>
            <a:ext cx="75764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</a:rPr>
              <a:t>Редукция</a:t>
            </a:r>
            <a:r>
              <a:rPr lang="en-US" sz="3600" dirty="0">
                <a:solidFill>
                  <a:schemeClr val="bg1"/>
                </a:solidFill>
              </a:rPr>
              <a:t>. </a:t>
            </a:r>
            <a:r>
              <a:rPr lang="ru-RU" sz="3600" dirty="0">
                <a:solidFill>
                  <a:schemeClr val="bg1"/>
                </a:solidFill>
              </a:rPr>
              <a:t>Метод сдваивания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5BA0448-8EE1-5B58-FB2E-3BBAF151AEA5}"/>
              </a:ext>
            </a:extLst>
          </p:cNvPr>
          <p:cNvSpPr txBox="1"/>
          <p:nvPr/>
        </p:nvSpPr>
        <p:spPr>
          <a:xfrm>
            <a:off x="2022358" y="5776031"/>
            <a:ext cx="24625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Итоговый результат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519CC62-BE5D-3015-9B70-580C12481002}"/>
              </a:ext>
            </a:extLst>
          </p:cNvPr>
          <p:cNvSpPr txBox="1"/>
          <p:nvPr/>
        </p:nvSpPr>
        <p:spPr>
          <a:xfrm>
            <a:off x="1642011" y="2613915"/>
            <a:ext cx="28040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Локальные результаты</a:t>
            </a:r>
          </a:p>
        </p:txBody>
      </p:sp>
      <p:cxnSp>
        <p:nvCxnSpPr>
          <p:cNvPr id="68" name="Прямая со стрелкой 67">
            <a:extLst>
              <a:ext uri="{FF2B5EF4-FFF2-40B4-BE49-F238E27FC236}">
                <a16:creationId xmlns:a16="http://schemas.microsoft.com/office/drawing/2014/main" id="{F6225149-0A7E-9BD8-87E1-549307A88CAD}"/>
              </a:ext>
            </a:extLst>
          </p:cNvPr>
          <p:cNvCxnSpPr>
            <a:cxnSpLocks/>
            <a:stCxn id="42" idx="4"/>
            <a:endCxn id="65" idx="0"/>
          </p:cNvCxnSpPr>
          <p:nvPr/>
        </p:nvCxnSpPr>
        <p:spPr>
          <a:xfrm>
            <a:off x="5185995" y="3113690"/>
            <a:ext cx="0" cy="9846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Прямая со стрелкой 72">
            <a:extLst>
              <a:ext uri="{FF2B5EF4-FFF2-40B4-BE49-F238E27FC236}">
                <a16:creationId xmlns:a16="http://schemas.microsoft.com/office/drawing/2014/main" id="{63739EEB-9D24-1DE9-75E4-518B920C849C}"/>
              </a:ext>
            </a:extLst>
          </p:cNvPr>
          <p:cNvCxnSpPr>
            <a:cxnSpLocks/>
            <a:stCxn id="45" idx="4"/>
            <a:endCxn id="65" idx="7"/>
          </p:cNvCxnSpPr>
          <p:nvPr/>
        </p:nvCxnSpPr>
        <p:spPr>
          <a:xfrm flipH="1">
            <a:off x="5397929" y="3113690"/>
            <a:ext cx="1176526" cy="10724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90" name="Группа 89">
            <a:extLst>
              <a:ext uri="{FF2B5EF4-FFF2-40B4-BE49-F238E27FC236}">
                <a16:creationId xmlns:a16="http://schemas.microsoft.com/office/drawing/2014/main" id="{4140B805-A80F-31C9-4D4D-FD7D0D540EC8}"/>
              </a:ext>
            </a:extLst>
          </p:cNvPr>
          <p:cNvGrpSpPr/>
          <p:nvPr/>
        </p:nvGrpSpPr>
        <p:grpSpPr>
          <a:xfrm>
            <a:off x="4484955" y="1269711"/>
            <a:ext cx="5578604" cy="5006095"/>
            <a:chOff x="3770812" y="1241263"/>
            <a:chExt cx="5578604" cy="5006095"/>
          </a:xfrm>
        </p:grpSpPr>
        <p:sp>
          <p:nvSpPr>
            <p:cNvPr id="34" name="Прямоугольник 33">
              <a:extLst>
                <a:ext uri="{FF2B5EF4-FFF2-40B4-BE49-F238E27FC236}">
                  <a16:creationId xmlns:a16="http://schemas.microsoft.com/office/drawing/2014/main" id="{01DFB0B8-EC57-C7D1-5E7A-8A1CA8B01504}"/>
                </a:ext>
              </a:extLst>
            </p:cNvPr>
            <p:cNvSpPr/>
            <p:nvPr/>
          </p:nvSpPr>
          <p:spPr>
            <a:xfrm>
              <a:off x="3770812" y="1241263"/>
              <a:ext cx="701040" cy="70104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sz="2800" dirty="0"/>
                <a:t>0</a:t>
              </a:r>
            </a:p>
          </p:txBody>
        </p:sp>
        <p:sp>
          <p:nvSpPr>
            <p:cNvPr id="35" name="Прямоугольник 34">
              <a:extLst>
                <a:ext uri="{FF2B5EF4-FFF2-40B4-BE49-F238E27FC236}">
                  <a16:creationId xmlns:a16="http://schemas.microsoft.com/office/drawing/2014/main" id="{D4E954B1-20A8-63CC-C4C6-38D119FDE0D6}"/>
                </a:ext>
              </a:extLst>
            </p:cNvPr>
            <p:cNvSpPr/>
            <p:nvPr/>
          </p:nvSpPr>
          <p:spPr>
            <a:xfrm>
              <a:off x="4471852" y="1241263"/>
              <a:ext cx="701040" cy="70104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sz="2800" dirty="0"/>
                <a:t>1</a:t>
              </a:r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:a16="http://schemas.microsoft.com/office/drawing/2014/main" id="{52EAD0E1-896A-B4A6-D183-5B09715DB716}"/>
                </a:ext>
              </a:extLst>
            </p:cNvPr>
            <p:cNvSpPr/>
            <p:nvPr/>
          </p:nvSpPr>
          <p:spPr>
            <a:xfrm>
              <a:off x="5158034" y="1241263"/>
              <a:ext cx="701040" cy="70104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sz="2800" dirty="0"/>
                <a:t>2</a:t>
              </a:r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id="{8DAA6CF3-EB01-7251-F180-36CD8D96F2B8}"/>
                </a:ext>
              </a:extLst>
            </p:cNvPr>
            <p:cNvSpPr/>
            <p:nvPr/>
          </p:nvSpPr>
          <p:spPr>
            <a:xfrm>
              <a:off x="5859074" y="1241263"/>
              <a:ext cx="701040" cy="70104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sz="2800" dirty="0"/>
                <a:t>3</a:t>
              </a:r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id="{D5C2E7A7-3866-0F7D-A3B7-7C46C10D2771}"/>
                </a:ext>
              </a:extLst>
            </p:cNvPr>
            <p:cNvSpPr/>
            <p:nvPr/>
          </p:nvSpPr>
          <p:spPr>
            <a:xfrm>
              <a:off x="6560114" y="1241263"/>
              <a:ext cx="701040" cy="70104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sz="2800" dirty="0"/>
                <a:t>4</a:t>
              </a:r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id="{8C9179D1-940F-819B-AEEB-C1223E9CA8E7}"/>
                </a:ext>
              </a:extLst>
            </p:cNvPr>
            <p:cNvSpPr/>
            <p:nvPr/>
          </p:nvSpPr>
          <p:spPr>
            <a:xfrm>
              <a:off x="7261154" y="1241263"/>
              <a:ext cx="701040" cy="70104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sz="2800" dirty="0"/>
                <a:t>5</a:t>
              </a:r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id="{48A7953E-69BE-8D83-B6A5-1A2821C8EDC2}"/>
                </a:ext>
              </a:extLst>
            </p:cNvPr>
            <p:cNvSpPr/>
            <p:nvPr/>
          </p:nvSpPr>
          <p:spPr>
            <a:xfrm>
              <a:off x="7947336" y="1241263"/>
              <a:ext cx="701040" cy="70104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sz="2800" dirty="0"/>
                <a:t>6</a:t>
              </a:r>
            </a:p>
          </p:txBody>
        </p:sp>
        <p:sp>
          <p:nvSpPr>
            <p:cNvPr id="41" name="Прямоугольник 40">
              <a:extLst>
                <a:ext uri="{FF2B5EF4-FFF2-40B4-BE49-F238E27FC236}">
                  <a16:creationId xmlns:a16="http://schemas.microsoft.com/office/drawing/2014/main" id="{8A686085-EED0-C70A-5CC7-86791AD51D89}"/>
                </a:ext>
              </a:extLst>
            </p:cNvPr>
            <p:cNvSpPr/>
            <p:nvPr/>
          </p:nvSpPr>
          <p:spPr>
            <a:xfrm>
              <a:off x="8648376" y="1241263"/>
              <a:ext cx="701040" cy="70104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sz="2800" dirty="0"/>
                <a:t>7</a:t>
              </a:r>
            </a:p>
          </p:txBody>
        </p:sp>
        <p:sp>
          <p:nvSpPr>
            <p:cNvPr id="42" name="Овал 41">
              <a:extLst>
                <a:ext uri="{FF2B5EF4-FFF2-40B4-BE49-F238E27FC236}">
                  <a16:creationId xmlns:a16="http://schemas.microsoft.com/office/drawing/2014/main" id="{A223C369-17F9-4C7A-25CB-DCE228985D12}"/>
                </a:ext>
              </a:extLst>
            </p:cNvPr>
            <p:cNvSpPr/>
            <p:nvPr/>
          </p:nvSpPr>
          <p:spPr>
            <a:xfrm>
              <a:off x="4172132" y="2485802"/>
              <a:ext cx="599440" cy="5994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400" dirty="0">
                  <a:solidFill>
                    <a:schemeClr val="tx1"/>
                  </a:solidFill>
                </a:rPr>
                <a:t>1</a:t>
              </a:r>
            </a:p>
          </p:txBody>
        </p:sp>
        <p:cxnSp>
          <p:nvCxnSpPr>
            <p:cNvPr id="43" name="Прямая со стрелкой 42">
              <a:extLst>
                <a:ext uri="{FF2B5EF4-FFF2-40B4-BE49-F238E27FC236}">
                  <a16:creationId xmlns:a16="http://schemas.microsoft.com/office/drawing/2014/main" id="{EAAF84B0-B15D-BB8F-9728-77A4758C321E}"/>
                </a:ext>
              </a:extLst>
            </p:cNvPr>
            <p:cNvCxnSpPr>
              <a:cxnSpLocks/>
              <a:stCxn id="34" idx="2"/>
              <a:endCxn id="42" idx="1"/>
            </p:cNvCxnSpPr>
            <p:nvPr/>
          </p:nvCxnSpPr>
          <p:spPr>
            <a:xfrm>
              <a:off x="4121332" y="1942303"/>
              <a:ext cx="138586" cy="63128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Прямая со стрелкой 43">
              <a:extLst>
                <a:ext uri="{FF2B5EF4-FFF2-40B4-BE49-F238E27FC236}">
                  <a16:creationId xmlns:a16="http://schemas.microsoft.com/office/drawing/2014/main" id="{771D7511-12D0-803F-AF36-ECE21A5EE459}"/>
                </a:ext>
              </a:extLst>
            </p:cNvPr>
            <p:cNvCxnSpPr>
              <a:cxnSpLocks/>
              <a:stCxn id="35" idx="2"/>
              <a:endCxn id="42" idx="7"/>
            </p:cNvCxnSpPr>
            <p:nvPr/>
          </p:nvCxnSpPr>
          <p:spPr>
            <a:xfrm flipH="1">
              <a:off x="4683786" y="1942303"/>
              <a:ext cx="138586" cy="63128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Овал 44">
              <a:extLst>
                <a:ext uri="{FF2B5EF4-FFF2-40B4-BE49-F238E27FC236}">
                  <a16:creationId xmlns:a16="http://schemas.microsoft.com/office/drawing/2014/main" id="{729137E4-700B-716A-1573-08DBD6E134E5}"/>
                </a:ext>
              </a:extLst>
            </p:cNvPr>
            <p:cNvSpPr/>
            <p:nvPr/>
          </p:nvSpPr>
          <p:spPr>
            <a:xfrm>
              <a:off x="5560592" y="2485802"/>
              <a:ext cx="599440" cy="5994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400" dirty="0">
                  <a:solidFill>
                    <a:schemeClr val="tx1"/>
                  </a:solidFill>
                </a:rPr>
                <a:t>5</a:t>
              </a:r>
            </a:p>
          </p:txBody>
        </p:sp>
        <p:cxnSp>
          <p:nvCxnSpPr>
            <p:cNvPr id="46" name="Прямая со стрелкой 45">
              <a:extLst>
                <a:ext uri="{FF2B5EF4-FFF2-40B4-BE49-F238E27FC236}">
                  <a16:creationId xmlns:a16="http://schemas.microsoft.com/office/drawing/2014/main" id="{E79E4750-1883-2D36-108F-D08FB66FE027}"/>
                </a:ext>
              </a:extLst>
            </p:cNvPr>
            <p:cNvCxnSpPr>
              <a:cxnSpLocks/>
              <a:stCxn id="36" idx="2"/>
              <a:endCxn id="45" idx="1"/>
            </p:cNvCxnSpPr>
            <p:nvPr/>
          </p:nvCxnSpPr>
          <p:spPr>
            <a:xfrm>
              <a:off x="5508554" y="1942303"/>
              <a:ext cx="139824" cy="63128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Прямая со стрелкой 46">
              <a:extLst>
                <a:ext uri="{FF2B5EF4-FFF2-40B4-BE49-F238E27FC236}">
                  <a16:creationId xmlns:a16="http://schemas.microsoft.com/office/drawing/2014/main" id="{6403B5E2-5F31-8C45-02BA-A622747A5FCA}"/>
                </a:ext>
              </a:extLst>
            </p:cNvPr>
            <p:cNvCxnSpPr>
              <a:cxnSpLocks/>
              <a:stCxn id="37" idx="2"/>
              <a:endCxn id="45" idx="7"/>
            </p:cNvCxnSpPr>
            <p:nvPr/>
          </p:nvCxnSpPr>
          <p:spPr>
            <a:xfrm flipH="1">
              <a:off x="6072246" y="1942303"/>
              <a:ext cx="137348" cy="63128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Овал 47">
              <a:extLst>
                <a:ext uri="{FF2B5EF4-FFF2-40B4-BE49-F238E27FC236}">
                  <a16:creationId xmlns:a16="http://schemas.microsoft.com/office/drawing/2014/main" id="{529C7A0F-F6AC-C404-5062-268EE1EC1666}"/>
                </a:ext>
              </a:extLst>
            </p:cNvPr>
            <p:cNvSpPr/>
            <p:nvPr/>
          </p:nvSpPr>
          <p:spPr>
            <a:xfrm>
              <a:off x="6946576" y="2485802"/>
              <a:ext cx="599440" cy="5994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400" dirty="0">
                  <a:solidFill>
                    <a:schemeClr val="tx1"/>
                  </a:solidFill>
                </a:rPr>
                <a:t>9</a:t>
              </a:r>
            </a:p>
          </p:txBody>
        </p:sp>
        <p:cxnSp>
          <p:nvCxnSpPr>
            <p:cNvPr id="49" name="Прямая со стрелкой 48">
              <a:extLst>
                <a:ext uri="{FF2B5EF4-FFF2-40B4-BE49-F238E27FC236}">
                  <a16:creationId xmlns:a16="http://schemas.microsoft.com/office/drawing/2014/main" id="{0327A123-D9C0-FDDC-DE9F-C264A5BA161C}"/>
                </a:ext>
              </a:extLst>
            </p:cNvPr>
            <p:cNvCxnSpPr>
              <a:cxnSpLocks/>
              <a:stCxn id="38" idx="2"/>
              <a:endCxn id="48" idx="1"/>
            </p:cNvCxnSpPr>
            <p:nvPr/>
          </p:nvCxnSpPr>
          <p:spPr>
            <a:xfrm>
              <a:off x="6910634" y="1942303"/>
              <a:ext cx="123728" cy="63128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Прямая со стрелкой 49">
              <a:extLst>
                <a:ext uri="{FF2B5EF4-FFF2-40B4-BE49-F238E27FC236}">
                  <a16:creationId xmlns:a16="http://schemas.microsoft.com/office/drawing/2014/main" id="{7CF5667D-444A-AD80-1E62-28E3EB1A7EF2}"/>
                </a:ext>
              </a:extLst>
            </p:cNvPr>
            <p:cNvCxnSpPr>
              <a:cxnSpLocks/>
              <a:stCxn id="39" idx="2"/>
              <a:endCxn id="48" idx="7"/>
            </p:cNvCxnSpPr>
            <p:nvPr/>
          </p:nvCxnSpPr>
          <p:spPr>
            <a:xfrm flipH="1">
              <a:off x="7458230" y="1942303"/>
              <a:ext cx="153444" cy="63128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Овал 50">
              <a:extLst>
                <a:ext uri="{FF2B5EF4-FFF2-40B4-BE49-F238E27FC236}">
                  <a16:creationId xmlns:a16="http://schemas.microsoft.com/office/drawing/2014/main" id="{7E20359B-D7E9-D34B-B7A5-F665F0038913}"/>
                </a:ext>
              </a:extLst>
            </p:cNvPr>
            <p:cNvSpPr/>
            <p:nvPr/>
          </p:nvSpPr>
          <p:spPr>
            <a:xfrm>
              <a:off x="8336720" y="2485802"/>
              <a:ext cx="599440" cy="5994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600" dirty="0">
                  <a:solidFill>
                    <a:schemeClr val="tx1"/>
                  </a:solidFill>
                </a:rPr>
                <a:t>13</a:t>
              </a:r>
            </a:p>
          </p:txBody>
        </p:sp>
        <p:cxnSp>
          <p:nvCxnSpPr>
            <p:cNvPr id="52" name="Прямая со стрелкой 51">
              <a:extLst>
                <a:ext uri="{FF2B5EF4-FFF2-40B4-BE49-F238E27FC236}">
                  <a16:creationId xmlns:a16="http://schemas.microsoft.com/office/drawing/2014/main" id="{CDF5F0E0-4A71-4396-90FC-886BB4D5E229}"/>
                </a:ext>
              </a:extLst>
            </p:cNvPr>
            <p:cNvCxnSpPr>
              <a:cxnSpLocks/>
              <a:endCxn id="51" idx="1"/>
            </p:cNvCxnSpPr>
            <p:nvPr/>
          </p:nvCxnSpPr>
          <p:spPr>
            <a:xfrm>
              <a:off x="8300778" y="1942303"/>
              <a:ext cx="123728" cy="63128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Прямая со стрелкой 52">
              <a:extLst>
                <a:ext uri="{FF2B5EF4-FFF2-40B4-BE49-F238E27FC236}">
                  <a16:creationId xmlns:a16="http://schemas.microsoft.com/office/drawing/2014/main" id="{383675C8-BD6A-DCAC-BDC9-55F385A5ED39}"/>
                </a:ext>
              </a:extLst>
            </p:cNvPr>
            <p:cNvCxnSpPr>
              <a:cxnSpLocks/>
              <a:endCxn id="51" idx="7"/>
            </p:cNvCxnSpPr>
            <p:nvPr/>
          </p:nvCxnSpPr>
          <p:spPr>
            <a:xfrm flipH="1">
              <a:off x="8848374" y="1942303"/>
              <a:ext cx="153444" cy="63128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Овал 53">
              <a:extLst>
                <a:ext uri="{FF2B5EF4-FFF2-40B4-BE49-F238E27FC236}">
                  <a16:creationId xmlns:a16="http://schemas.microsoft.com/office/drawing/2014/main" id="{8268F58A-B29A-89EC-E0F6-41A5CFC3FC00}"/>
                </a:ext>
              </a:extLst>
            </p:cNvPr>
            <p:cNvSpPr/>
            <p:nvPr/>
          </p:nvSpPr>
          <p:spPr>
            <a:xfrm>
              <a:off x="4172132" y="5647918"/>
              <a:ext cx="599440" cy="5994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600" b="1" dirty="0">
                  <a:solidFill>
                    <a:schemeClr val="tx1"/>
                  </a:solidFill>
                </a:rPr>
                <a:t>28</a:t>
              </a:r>
            </a:p>
          </p:txBody>
        </p:sp>
        <p:sp>
          <p:nvSpPr>
            <p:cNvPr id="65" name="Овал 64">
              <a:extLst>
                <a:ext uri="{FF2B5EF4-FFF2-40B4-BE49-F238E27FC236}">
                  <a16:creationId xmlns:a16="http://schemas.microsoft.com/office/drawing/2014/main" id="{5C833C59-06E8-110B-CA89-05692A34B408}"/>
                </a:ext>
              </a:extLst>
            </p:cNvPr>
            <p:cNvSpPr/>
            <p:nvPr/>
          </p:nvSpPr>
          <p:spPr>
            <a:xfrm>
              <a:off x="4172132" y="4069906"/>
              <a:ext cx="599440" cy="5994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4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76" name="Овал 75">
              <a:extLst>
                <a:ext uri="{FF2B5EF4-FFF2-40B4-BE49-F238E27FC236}">
                  <a16:creationId xmlns:a16="http://schemas.microsoft.com/office/drawing/2014/main" id="{4EDB6479-22C4-CC45-53F8-E5894CFBE06E}"/>
                </a:ext>
              </a:extLst>
            </p:cNvPr>
            <p:cNvSpPr/>
            <p:nvPr/>
          </p:nvSpPr>
          <p:spPr>
            <a:xfrm>
              <a:off x="6946576" y="4069906"/>
              <a:ext cx="599440" cy="5994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600" dirty="0">
                  <a:solidFill>
                    <a:schemeClr val="tx1"/>
                  </a:solidFill>
                </a:rPr>
                <a:t>22</a:t>
              </a:r>
            </a:p>
          </p:txBody>
        </p:sp>
        <p:cxnSp>
          <p:nvCxnSpPr>
            <p:cNvPr id="77" name="Прямая со стрелкой 76">
              <a:extLst>
                <a:ext uri="{FF2B5EF4-FFF2-40B4-BE49-F238E27FC236}">
                  <a16:creationId xmlns:a16="http://schemas.microsoft.com/office/drawing/2014/main" id="{D021031B-4A0E-20C8-3FB5-561233B98F9A}"/>
                </a:ext>
              </a:extLst>
            </p:cNvPr>
            <p:cNvCxnSpPr>
              <a:cxnSpLocks/>
              <a:endCxn id="76" idx="0"/>
            </p:cNvCxnSpPr>
            <p:nvPr/>
          </p:nvCxnSpPr>
          <p:spPr>
            <a:xfrm>
              <a:off x="7246296" y="3085242"/>
              <a:ext cx="0" cy="98466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Прямая со стрелкой 77">
              <a:extLst>
                <a:ext uri="{FF2B5EF4-FFF2-40B4-BE49-F238E27FC236}">
                  <a16:creationId xmlns:a16="http://schemas.microsoft.com/office/drawing/2014/main" id="{E78FF8FC-C5C4-6F59-486D-521ABEA1FAB0}"/>
                </a:ext>
              </a:extLst>
            </p:cNvPr>
            <p:cNvCxnSpPr>
              <a:cxnSpLocks/>
              <a:endCxn id="76" idx="7"/>
            </p:cNvCxnSpPr>
            <p:nvPr/>
          </p:nvCxnSpPr>
          <p:spPr>
            <a:xfrm flipH="1">
              <a:off x="7458230" y="3085242"/>
              <a:ext cx="1176526" cy="107245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Прямая со стрелкой 80">
              <a:extLst>
                <a:ext uri="{FF2B5EF4-FFF2-40B4-BE49-F238E27FC236}">
                  <a16:creationId xmlns:a16="http://schemas.microsoft.com/office/drawing/2014/main" id="{DA7C9506-2B41-778E-F040-F7D57D1A9BDA}"/>
                </a:ext>
              </a:extLst>
            </p:cNvPr>
            <p:cNvCxnSpPr>
              <a:cxnSpLocks/>
            </p:cNvCxnSpPr>
            <p:nvPr/>
          </p:nvCxnSpPr>
          <p:spPr>
            <a:xfrm>
              <a:off x="4470764" y="4671717"/>
              <a:ext cx="0" cy="98466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2" name="Прямая со стрелкой 81">
            <a:extLst>
              <a:ext uri="{FF2B5EF4-FFF2-40B4-BE49-F238E27FC236}">
                <a16:creationId xmlns:a16="http://schemas.microsoft.com/office/drawing/2014/main" id="{61B8DFC5-1D77-C228-C268-69DDC4FDD500}"/>
              </a:ext>
            </a:extLst>
          </p:cNvPr>
          <p:cNvCxnSpPr>
            <a:cxnSpLocks/>
            <a:stCxn id="76" idx="2"/>
            <a:endCxn id="54" idx="7"/>
          </p:cNvCxnSpPr>
          <p:nvPr/>
        </p:nvCxnSpPr>
        <p:spPr>
          <a:xfrm flipH="1">
            <a:off x="5397929" y="4398074"/>
            <a:ext cx="2262790" cy="13660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0C2BA4C9-C508-A9EC-4E84-D9D74DD88DFF}"/>
              </a:ext>
            </a:extLst>
          </p:cNvPr>
          <p:cNvSpPr txBox="1"/>
          <p:nvPr/>
        </p:nvSpPr>
        <p:spPr>
          <a:xfrm>
            <a:off x="1058209" y="3606022"/>
            <a:ext cx="37481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Порядок операций определён</a:t>
            </a:r>
          </a:p>
        </p:txBody>
      </p:sp>
    </p:spTree>
    <p:extLst>
      <p:ext uri="{BB962C8B-B14F-4D97-AF65-F5344CB8AC3E}">
        <p14:creationId xmlns:p14="http://schemas.microsoft.com/office/powerpoint/2010/main" val="2700064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C1013-DA82-8592-D964-93CE7EAA4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 descr="Изображение выглядит как линия, диаграмма, График, Параллельны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132EF7B-B125-2C41-2A2F-F055F2ACE2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8982" y="2698828"/>
            <a:ext cx="6485446" cy="3891268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5284A32-BB09-0166-3A0C-ED8FAE27E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7CC-CB90-4A98-9AE2-791F6193C32F}" type="slidenum">
              <a:rPr lang="ru-RU" smtClean="0"/>
              <a:t>7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C146D2-C0B0-4AE9-3AB4-A790AD6B086C}"/>
              </a:ext>
            </a:extLst>
          </p:cNvPr>
          <p:cNvSpPr txBox="1"/>
          <p:nvPr/>
        </p:nvSpPr>
        <p:spPr>
          <a:xfrm>
            <a:off x="341642" y="160774"/>
            <a:ext cx="109359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</a:rPr>
              <a:t>Редукция</a:t>
            </a:r>
            <a:r>
              <a:rPr lang="en-US" sz="3600" dirty="0">
                <a:solidFill>
                  <a:schemeClr val="bg1"/>
                </a:solidFill>
              </a:rPr>
              <a:t>. </a:t>
            </a:r>
            <a:r>
              <a:rPr lang="ru-RU" sz="3600" dirty="0">
                <a:solidFill>
                  <a:schemeClr val="bg1"/>
                </a:solidFill>
              </a:rPr>
              <a:t>Метод сдваивания</a:t>
            </a:r>
            <a:r>
              <a:rPr lang="en-US" sz="3600" dirty="0">
                <a:solidFill>
                  <a:schemeClr val="bg1"/>
                </a:solidFill>
              </a:rPr>
              <a:t>. </a:t>
            </a:r>
            <a:r>
              <a:rPr lang="ru-RU" sz="3600" dirty="0">
                <a:solidFill>
                  <a:schemeClr val="bg1"/>
                </a:solidFill>
              </a:rPr>
              <a:t>Результаты тестов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73039B-8D44-5D61-424E-20B280A2B48B}"/>
              </a:ext>
            </a:extLst>
          </p:cNvPr>
          <p:cNvSpPr txBox="1"/>
          <p:nvPr/>
        </p:nvSpPr>
        <p:spPr>
          <a:xfrm>
            <a:off x="341643" y="1245997"/>
            <a:ext cx="3468357" cy="1701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/>
              <a:t>Тесты </a:t>
            </a:r>
            <a:r>
              <a:rPr lang="en-US" sz="2400" b="1" dirty="0"/>
              <a:t>jac3d</a:t>
            </a:r>
          </a:p>
          <a:p>
            <a:pPr>
              <a:lnSpc>
                <a:spcPct val="150000"/>
              </a:lnSpc>
            </a:pPr>
            <a:r>
              <a:rPr lang="ru-RU" sz="2400" dirty="0"/>
              <a:t>Тесты </a:t>
            </a:r>
            <a:r>
              <a:rPr lang="en-US" sz="2400" b="1" dirty="0"/>
              <a:t>NAS CG</a:t>
            </a:r>
            <a:endParaRPr lang="en-US" sz="24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ru-RU" sz="2400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05AA229E-88D3-6B60-403F-B6D010F287AE}"/>
              </a:ext>
            </a:extLst>
          </p:cNvPr>
          <p:cNvSpPr/>
          <p:nvPr/>
        </p:nvSpPr>
        <p:spPr>
          <a:xfrm>
            <a:off x="9469120" y="1195197"/>
            <a:ext cx="2052320" cy="124015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Ubuntu 24.04 LTS</a:t>
            </a:r>
          </a:p>
          <a:p>
            <a:r>
              <a:rPr lang="en-US" dirty="0">
                <a:solidFill>
                  <a:schemeClr val="tx1"/>
                </a:solidFill>
              </a:rPr>
              <a:t>4 </a:t>
            </a:r>
            <a:r>
              <a:rPr lang="ru-RU" dirty="0">
                <a:solidFill>
                  <a:schemeClr val="tx1"/>
                </a:solidFill>
              </a:rPr>
              <a:t>ядра </a:t>
            </a:r>
            <a:r>
              <a:rPr lang="en-US" dirty="0">
                <a:solidFill>
                  <a:schemeClr val="tx1"/>
                </a:solidFill>
              </a:rPr>
              <a:t>Intel 2</a:t>
            </a:r>
            <a:r>
              <a:rPr lang="ru-RU" dirty="0">
                <a:solidFill>
                  <a:schemeClr val="tx1"/>
                </a:solidFill>
              </a:rPr>
              <a:t> ГГц</a:t>
            </a:r>
          </a:p>
          <a:p>
            <a:r>
              <a:rPr lang="en-US" dirty="0">
                <a:solidFill>
                  <a:schemeClr val="tx1"/>
                </a:solidFill>
              </a:rPr>
              <a:t>16 </a:t>
            </a:r>
            <a:r>
              <a:rPr lang="ru-RU" dirty="0">
                <a:solidFill>
                  <a:schemeClr val="tx1"/>
                </a:solidFill>
              </a:rPr>
              <a:t>Гигабайт </a:t>
            </a:r>
            <a:r>
              <a:rPr lang="en-US" dirty="0">
                <a:solidFill>
                  <a:schemeClr val="tx1"/>
                </a:solidFill>
              </a:rPr>
              <a:t>RAM </a:t>
            </a:r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3" name="Рисунок 2" descr="Изображение выглядит как линия, диаграмма, График, текс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79CF94A-E613-B87F-C91F-35DA0E30C8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7013" y="2718508"/>
            <a:ext cx="6485446" cy="3891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487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91E55-A73C-F400-8AF7-69CB72CD8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E37C8FC-C1C3-1B29-223C-E119871B9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7CC-CB90-4A98-9AE2-791F6193C32F}" type="slidenum">
              <a:rPr lang="ru-RU" smtClean="0"/>
              <a:t>8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1995C3-92CC-79BF-1297-23E98AC0313B}"/>
              </a:ext>
            </a:extLst>
          </p:cNvPr>
          <p:cNvSpPr txBox="1"/>
          <p:nvPr/>
        </p:nvSpPr>
        <p:spPr>
          <a:xfrm>
            <a:off x="341642" y="160774"/>
            <a:ext cx="109359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</a:rPr>
              <a:t>Редукция</a:t>
            </a:r>
            <a:r>
              <a:rPr lang="en-US" sz="3600" dirty="0">
                <a:solidFill>
                  <a:schemeClr val="bg1"/>
                </a:solidFill>
              </a:rPr>
              <a:t>. </a:t>
            </a:r>
            <a:r>
              <a:rPr lang="ru-RU" sz="3600" dirty="0">
                <a:solidFill>
                  <a:schemeClr val="bg1"/>
                </a:solidFill>
              </a:rPr>
              <a:t>Сравнение результатов методов</a:t>
            </a:r>
          </a:p>
        </p:txBody>
      </p:sp>
      <p:pic>
        <p:nvPicPr>
          <p:cNvPr id="7" name="Рисунок 6" descr="Изображение выглядит как линия, диаграмма, График, Параллельны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D897EC64-8921-2686-2E1D-D67F934EB0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0" y="1210815"/>
            <a:ext cx="9997440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060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41C4F-CB46-7D66-65DB-C24CF0631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B1B908E-C44F-C3A8-F422-683694724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7CC-CB90-4A98-9AE2-791F6193C32F}" type="slidenum">
              <a:rPr lang="ru-RU" smtClean="0"/>
              <a:t>9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39121F-C470-380F-E8AD-FA029196D3D7}"/>
              </a:ext>
            </a:extLst>
          </p:cNvPr>
          <p:cNvSpPr txBox="1"/>
          <p:nvPr/>
        </p:nvSpPr>
        <p:spPr>
          <a:xfrm>
            <a:off x="341643" y="160774"/>
            <a:ext cx="75764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</a:rPr>
              <a:t>Редукция. Результаты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9E3184-6A84-2F8F-5C67-A4BC449F9FB7}"/>
              </a:ext>
            </a:extLst>
          </p:cNvPr>
          <p:cNvSpPr txBox="1"/>
          <p:nvPr/>
        </p:nvSpPr>
        <p:spPr>
          <a:xfrm>
            <a:off x="341643" y="1245997"/>
            <a:ext cx="11113477" cy="3363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2400" dirty="0"/>
              <a:t>С использованием </a:t>
            </a:r>
            <a:r>
              <a:rPr lang="en-US" sz="2400" dirty="0" err="1"/>
              <a:t>Argobots</a:t>
            </a:r>
            <a:r>
              <a:rPr lang="en-US" sz="2400" dirty="0"/>
              <a:t> </a:t>
            </a:r>
            <a:r>
              <a:rPr lang="ru-RU" sz="2400" dirty="0"/>
              <a:t>разработаны и </a:t>
            </a:r>
            <a:r>
              <a:rPr lang="ru-RU" sz="2400" dirty="0" err="1"/>
              <a:t>программно</a:t>
            </a:r>
            <a:r>
              <a:rPr lang="ru-RU" sz="2400" dirty="0"/>
              <a:t> реализованы два алгоритма редукции: наивный и методом сдваивания</a:t>
            </a:r>
            <a:r>
              <a:rPr lang="en-US" sz="2400" dirty="0"/>
              <a:t>;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2400" dirty="0"/>
              <a:t>Тесты </a:t>
            </a:r>
            <a:r>
              <a:rPr lang="en-US" sz="2400" b="1" dirty="0"/>
              <a:t>jac3d</a:t>
            </a:r>
            <a:r>
              <a:rPr lang="en-US" sz="2400" dirty="0"/>
              <a:t> </a:t>
            </a:r>
            <a:r>
              <a:rPr lang="ru-RU" sz="2400" dirty="0"/>
              <a:t>и </a:t>
            </a:r>
            <a:r>
              <a:rPr lang="en-US" sz="2400" b="1" dirty="0"/>
              <a:t>NAS CG </a:t>
            </a:r>
            <a:r>
              <a:rPr lang="ru-RU" sz="2400" dirty="0"/>
              <a:t>написаны с использованием </a:t>
            </a:r>
            <a:r>
              <a:rPr lang="en-US" sz="2400" dirty="0" err="1"/>
              <a:t>Argobots</a:t>
            </a:r>
            <a:r>
              <a:rPr lang="en-US" sz="2400" dirty="0"/>
              <a:t>;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2400" dirty="0"/>
              <a:t>Метод сдваивания эффективнее наивной реализации на примерно </a:t>
            </a:r>
            <a:r>
              <a:rPr lang="ru-RU" sz="2400" b="1" i="1" dirty="0"/>
              <a:t>30</a:t>
            </a:r>
            <a:r>
              <a:rPr lang="en-US" sz="2400" b="1" i="1" dirty="0"/>
              <a:t>%</a:t>
            </a:r>
            <a:r>
              <a:rPr lang="en-US" sz="2400" dirty="0"/>
              <a:t>;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2400" dirty="0"/>
              <a:t>Оба метода демонстрируют хорошее распараллеливание программ</a:t>
            </a:r>
            <a:r>
              <a:rPr lang="en-US" sz="2400" dirty="0"/>
              <a:t>:</a:t>
            </a:r>
            <a:r>
              <a:rPr lang="ru-RU" sz="2400" dirty="0"/>
              <a:t> ускорение </a:t>
            </a:r>
            <a:r>
              <a:rPr lang="en-US" sz="2400" dirty="0"/>
              <a:t>~</a:t>
            </a:r>
            <a:r>
              <a:rPr lang="en-US" sz="2400" b="1" dirty="0"/>
              <a:t>3.5</a:t>
            </a:r>
            <a:r>
              <a:rPr lang="en-US" sz="2400" dirty="0"/>
              <a:t> </a:t>
            </a:r>
            <a:r>
              <a:rPr lang="ru-RU" sz="2400" dirty="0"/>
              <a:t>раз на 4 ядрах</a:t>
            </a:r>
            <a:r>
              <a:rPr lang="en-US" sz="2400" dirty="0"/>
              <a:t>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3698690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E0998-D2AF-8651-F953-648EB1A51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96E0C33-CB05-2839-98BD-154E09A76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7CC-CB90-4A98-9AE2-791F6193C32F}" type="slidenum">
              <a:rPr lang="ru-RU" smtClean="0"/>
              <a:t>10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38CCE4-4C2E-2E7B-FF95-28EC03CFF3D4}"/>
              </a:ext>
            </a:extLst>
          </p:cNvPr>
          <p:cNvSpPr txBox="1"/>
          <p:nvPr/>
        </p:nvSpPr>
        <p:spPr>
          <a:xfrm>
            <a:off x="341643" y="160774"/>
            <a:ext cx="75764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</a:rPr>
              <a:t>Планировщик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AEA26F-0A10-94B3-25F4-B4CEA8805334}"/>
              </a:ext>
            </a:extLst>
          </p:cNvPr>
          <p:cNvSpPr txBox="1"/>
          <p:nvPr/>
        </p:nvSpPr>
        <p:spPr>
          <a:xfrm>
            <a:off x="341643" y="1245997"/>
            <a:ext cx="11113477" cy="3917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2400" dirty="0"/>
              <a:t>Поток берёт задачи для выполнения из пула</a:t>
            </a:r>
            <a:r>
              <a:rPr lang="en-US" sz="2400" dirty="0"/>
              <a:t>;</a:t>
            </a:r>
            <a:endParaRPr lang="ru-RU" sz="24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2400" dirty="0"/>
              <a:t>У каждого пула есть свой планировщик (</a:t>
            </a:r>
            <a:r>
              <a:rPr lang="en-US" sz="2400" dirty="0"/>
              <a:t>scheduler);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2400" dirty="0"/>
              <a:t>Стандартная стратегия – брать задачи ТОЛЬКО из своего пула</a:t>
            </a:r>
            <a:r>
              <a:rPr lang="en-US" sz="2400" dirty="0"/>
              <a:t>;</a:t>
            </a:r>
            <a:r>
              <a:rPr lang="ru-RU" sz="2400" dirty="0"/>
              <a:t> возможны простои потока</a:t>
            </a:r>
            <a:r>
              <a:rPr lang="en-US" sz="2400" dirty="0"/>
              <a:t>;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2400" dirty="0"/>
              <a:t>Хотим реализовать кражу работы в случае, когда поток простаивает</a:t>
            </a:r>
            <a:r>
              <a:rPr lang="en-US" sz="2400" dirty="0"/>
              <a:t> (work stealing scheduler).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696774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BCA79-B1D9-D3A9-CD25-7B1EBC284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994791C-CB1F-837C-2404-27443C029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7CC-CB90-4A98-9AE2-791F6193C32F}" type="slidenum">
              <a:rPr lang="ru-RU" smtClean="0"/>
              <a:t>11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274C8A-11F5-B99D-DE3A-96D9AFA293B0}"/>
              </a:ext>
            </a:extLst>
          </p:cNvPr>
          <p:cNvSpPr txBox="1"/>
          <p:nvPr/>
        </p:nvSpPr>
        <p:spPr>
          <a:xfrm>
            <a:off x="341643" y="160774"/>
            <a:ext cx="75764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</a:rPr>
              <a:t>Планировщик. Схема работы. 1</a:t>
            </a: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76133238-AE4C-744F-EB7D-22F298AC9B63}"/>
              </a:ext>
            </a:extLst>
          </p:cNvPr>
          <p:cNvSpPr/>
          <p:nvPr/>
        </p:nvSpPr>
        <p:spPr>
          <a:xfrm>
            <a:off x="290759" y="2466485"/>
            <a:ext cx="442451" cy="44245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DA8F59-D8B5-4327-796E-2E2E6602E2DD}"/>
              </a:ext>
            </a:extLst>
          </p:cNvPr>
          <p:cNvSpPr txBox="1"/>
          <p:nvPr/>
        </p:nvSpPr>
        <p:spPr>
          <a:xfrm>
            <a:off x="841390" y="2417321"/>
            <a:ext cx="23302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Ожидающая выполнения задача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F7F5E4B-F3B5-C868-FEB8-ECDC755691F4}"/>
              </a:ext>
            </a:extLst>
          </p:cNvPr>
          <p:cNvSpPr/>
          <p:nvPr/>
        </p:nvSpPr>
        <p:spPr>
          <a:xfrm>
            <a:off x="290757" y="3878442"/>
            <a:ext cx="442451" cy="442451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40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E29BE3-AC47-9F6A-C311-D3F56D0BDC51}"/>
              </a:ext>
            </a:extLst>
          </p:cNvPr>
          <p:cNvSpPr txBox="1"/>
          <p:nvPr/>
        </p:nvSpPr>
        <p:spPr>
          <a:xfrm>
            <a:off x="841390" y="3797467"/>
            <a:ext cx="2330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Номер пула</a:t>
            </a:r>
          </a:p>
        </p:txBody>
      </p:sp>
      <p:grpSp>
        <p:nvGrpSpPr>
          <p:cNvPr id="49" name="Группа 48">
            <a:extLst>
              <a:ext uri="{FF2B5EF4-FFF2-40B4-BE49-F238E27FC236}">
                <a16:creationId xmlns:a16="http://schemas.microsoft.com/office/drawing/2014/main" id="{219EA2B0-E6BB-FADC-C7C1-4B998C25EA36}"/>
              </a:ext>
            </a:extLst>
          </p:cNvPr>
          <p:cNvGrpSpPr/>
          <p:nvPr/>
        </p:nvGrpSpPr>
        <p:grpSpPr>
          <a:xfrm>
            <a:off x="4235560" y="1876547"/>
            <a:ext cx="6432427" cy="3465882"/>
            <a:chOff x="4235560" y="1876547"/>
            <a:chExt cx="6432427" cy="3465882"/>
          </a:xfrm>
        </p:grpSpPr>
        <p:grpSp>
          <p:nvGrpSpPr>
            <p:cNvPr id="2" name="Группа 1">
              <a:extLst>
                <a:ext uri="{FF2B5EF4-FFF2-40B4-BE49-F238E27FC236}">
                  <a16:creationId xmlns:a16="http://schemas.microsoft.com/office/drawing/2014/main" id="{44D38B6B-81B5-E62C-8F55-F728CBA0FFDE}"/>
                </a:ext>
              </a:extLst>
            </p:cNvPr>
            <p:cNvGrpSpPr/>
            <p:nvPr/>
          </p:nvGrpSpPr>
          <p:grpSpPr>
            <a:xfrm>
              <a:off x="8842016" y="3228480"/>
              <a:ext cx="1825971" cy="884904"/>
              <a:chOff x="4712481" y="1036001"/>
              <a:chExt cx="1825971" cy="884904"/>
            </a:xfrm>
          </p:grpSpPr>
          <p:sp>
            <p:nvSpPr>
              <p:cNvPr id="3" name="Прямоугольник 2">
                <a:extLst>
                  <a:ext uri="{FF2B5EF4-FFF2-40B4-BE49-F238E27FC236}">
                    <a16:creationId xmlns:a16="http://schemas.microsoft.com/office/drawing/2014/main" id="{5A8885D7-B970-E212-6F13-B853D856F5A5}"/>
                  </a:ext>
                </a:extLst>
              </p:cNvPr>
              <p:cNvSpPr/>
              <p:nvPr/>
            </p:nvSpPr>
            <p:spPr>
              <a:xfrm>
                <a:off x="4712481" y="1036002"/>
                <a:ext cx="1825970" cy="884903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" name="Прямоугольник 6">
                <a:extLst>
                  <a:ext uri="{FF2B5EF4-FFF2-40B4-BE49-F238E27FC236}">
                    <a16:creationId xmlns:a16="http://schemas.microsoft.com/office/drawing/2014/main" id="{E35F9DCF-E7B7-B5BF-A089-D7E81D899219}"/>
                  </a:ext>
                </a:extLst>
              </p:cNvPr>
              <p:cNvSpPr/>
              <p:nvPr/>
            </p:nvSpPr>
            <p:spPr>
              <a:xfrm>
                <a:off x="6096001" y="1478453"/>
                <a:ext cx="442451" cy="442451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ru-RU" sz="4000" dirty="0">
                    <a:solidFill>
                      <a:srgbClr val="FF0000"/>
                    </a:solidFill>
                  </a:rPr>
                  <a:t>1</a:t>
                </a:r>
              </a:p>
            </p:txBody>
          </p:sp>
          <p:sp>
            <p:nvSpPr>
              <p:cNvPr id="8" name="Прямоугольник 7">
                <a:extLst>
                  <a:ext uri="{FF2B5EF4-FFF2-40B4-BE49-F238E27FC236}">
                    <a16:creationId xmlns:a16="http://schemas.microsoft.com/office/drawing/2014/main" id="{420A641B-DA73-1733-378A-5C6988DC7285}"/>
                  </a:ext>
                </a:extLst>
              </p:cNvPr>
              <p:cNvSpPr/>
              <p:nvPr/>
            </p:nvSpPr>
            <p:spPr>
              <a:xfrm>
                <a:off x="6096000" y="1036001"/>
                <a:ext cx="442451" cy="442451"/>
              </a:xfrm>
              <a:prstGeom prst="rect">
                <a:avLst/>
              </a:prstGeom>
              <a:ln>
                <a:solidFill>
                  <a:srgbClr val="00B05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sz="4000" dirty="0">
                  <a:solidFill>
                    <a:srgbClr val="00B050"/>
                  </a:solidFill>
                </a:endParaRPr>
              </a:p>
            </p:txBody>
          </p:sp>
        </p:grpSp>
        <p:grpSp>
          <p:nvGrpSpPr>
            <p:cNvPr id="13" name="Группа 12">
              <a:extLst>
                <a:ext uri="{FF2B5EF4-FFF2-40B4-BE49-F238E27FC236}">
                  <a16:creationId xmlns:a16="http://schemas.microsoft.com/office/drawing/2014/main" id="{788D0600-7E26-8BFD-47A4-A54520598B87}"/>
                </a:ext>
              </a:extLst>
            </p:cNvPr>
            <p:cNvGrpSpPr/>
            <p:nvPr/>
          </p:nvGrpSpPr>
          <p:grpSpPr>
            <a:xfrm>
              <a:off x="6588456" y="4457525"/>
              <a:ext cx="1825971" cy="884904"/>
              <a:chOff x="5204750" y="1155287"/>
              <a:chExt cx="1825971" cy="884904"/>
            </a:xfrm>
          </p:grpSpPr>
          <p:sp>
            <p:nvSpPr>
              <p:cNvPr id="14" name="Прямоугольник 13">
                <a:extLst>
                  <a:ext uri="{FF2B5EF4-FFF2-40B4-BE49-F238E27FC236}">
                    <a16:creationId xmlns:a16="http://schemas.microsoft.com/office/drawing/2014/main" id="{472D0AB8-3E94-2F21-7A27-931A64EA275D}"/>
                  </a:ext>
                </a:extLst>
              </p:cNvPr>
              <p:cNvSpPr/>
              <p:nvPr/>
            </p:nvSpPr>
            <p:spPr>
              <a:xfrm>
                <a:off x="5204750" y="1155288"/>
                <a:ext cx="1825970" cy="884903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5" name="Овал 14">
                <a:extLst>
                  <a:ext uri="{FF2B5EF4-FFF2-40B4-BE49-F238E27FC236}">
                    <a16:creationId xmlns:a16="http://schemas.microsoft.com/office/drawing/2014/main" id="{AFD68C09-A935-8DB8-1B13-42D010A45EC3}"/>
                  </a:ext>
                </a:extLst>
              </p:cNvPr>
              <p:cNvSpPr/>
              <p:nvPr/>
            </p:nvSpPr>
            <p:spPr>
              <a:xfrm>
                <a:off x="5204752" y="1155287"/>
                <a:ext cx="442451" cy="442451"/>
              </a:xfrm>
              <a:prstGeom prst="ellipse">
                <a:avLst/>
              </a:prstGeom>
              <a:solidFill>
                <a:srgbClr val="15608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6" name="Овал 15">
                <a:extLst>
                  <a:ext uri="{FF2B5EF4-FFF2-40B4-BE49-F238E27FC236}">
                    <a16:creationId xmlns:a16="http://schemas.microsoft.com/office/drawing/2014/main" id="{0FBBA71C-A987-1C35-D9CA-C1A640760912}"/>
                  </a:ext>
                </a:extLst>
              </p:cNvPr>
              <p:cNvSpPr/>
              <p:nvPr/>
            </p:nvSpPr>
            <p:spPr>
              <a:xfrm>
                <a:off x="5204750" y="1597739"/>
                <a:ext cx="442451" cy="442451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7" name="Овал 16">
                <a:extLst>
                  <a:ext uri="{FF2B5EF4-FFF2-40B4-BE49-F238E27FC236}">
                    <a16:creationId xmlns:a16="http://schemas.microsoft.com/office/drawing/2014/main" id="{438F4789-34DD-505C-9EBF-36F2C628BFD9}"/>
                  </a:ext>
                </a:extLst>
              </p:cNvPr>
              <p:cNvSpPr/>
              <p:nvPr/>
            </p:nvSpPr>
            <p:spPr>
              <a:xfrm>
                <a:off x="5675287" y="1155287"/>
                <a:ext cx="442451" cy="442451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8" name="Овал 17">
                <a:extLst>
                  <a:ext uri="{FF2B5EF4-FFF2-40B4-BE49-F238E27FC236}">
                    <a16:creationId xmlns:a16="http://schemas.microsoft.com/office/drawing/2014/main" id="{9B05A826-12AB-DFD0-5E90-34F878C18D5D}"/>
                  </a:ext>
                </a:extLst>
              </p:cNvPr>
              <p:cNvSpPr/>
              <p:nvPr/>
            </p:nvSpPr>
            <p:spPr>
              <a:xfrm>
                <a:off x="5675285" y="1597739"/>
                <a:ext cx="442451" cy="442451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9" name="Овал 18">
                <a:extLst>
                  <a:ext uri="{FF2B5EF4-FFF2-40B4-BE49-F238E27FC236}">
                    <a16:creationId xmlns:a16="http://schemas.microsoft.com/office/drawing/2014/main" id="{ED776937-F249-C3F1-7D14-4EBE642F0E44}"/>
                  </a:ext>
                </a:extLst>
              </p:cNvPr>
              <p:cNvSpPr/>
              <p:nvPr/>
            </p:nvSpPr>
            <p:spPr>
              <a:xfrm>
                <a:off x="6145815" y="1597739"/>
                <a:ext cx="442451" cy="442451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0" name="Прямоугольник 19">
                <a:extLst>
                  <a:ext uri="{FF2B5EF4-FFF2-40B4-BE49-F238E27FC236}">
                    <a16:creationId xmlns:a16="http://schemas.microsoft.com/office/drawing/2014/main" id="{EF634EE7-62CF-7BB9-53E5-49C7E36E90BC}"/>
                  </a:ext>
                </a:extLst>
              </p:cNvPr>
              <p:cNvSpPr/>
              <p:nvPr/>
            </p:nvSpPr>
            <p:spPr>
              <a:xfrm>
                <a:off x="6588270" y="1597739"/>
                <a:ext cx="442451" cy="442451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ru-RU" sz="4000" dirty="0">
                    <a:solidFill>
                      <a:srgbClr val="FF0000"/>
                    </a:solidFill>
                  </a:rPr>
                  <a:t>2</a:t>
                </a:r>
              </a:p>
            </p:txBody>
          </p:sp>
          <p:sp>
            <p:nvSpPr>
              <p:cNvPr id="21" name="Прямоугольник 20">
                <a:extLst>
                  <a:ext uri="{FF2B5EF4-FFF2-40B4-BE49-F238E27FC236}">
                    <a16:creationId xmlns:a16="http://schemas.microsoft.com/office/drawing/2014/main" id="{852549BD-60FE-4F0D-01CF-647F10B0674F}"/>
                  </a:ext>
                </a:extLst>
              </p:cNvPr>
              <p:cNvSpPr/>
              <p:nvPr/>
            </p:nvSpPr>
            <p:spPr>
              <a:xfrm>
                <a:off x="6588269" y="1155287"/>
                <a:ext cx="442451" cy="442451"/>
              </a:xfrm>
              <a:prstGeom prst="rect">
                <a:avLst/>
              </a:prstGeom>
              <a:ln>
                <a:solidFill>
                  <a:srgbClr val="00B05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sz="4000" dirty="0">
                  <a:solidFill>
                    <a:srgbClr val="00B050"/>
                  </a:solidFill>
                </a:endParaRPr>
              </a:p>
            </p:txBody>
          </p:sp>
        </p:grpSp>
        <p:grpSp>
          <p:nvGrpSpPr>
            <p:cNvPr id="22" name="Группа 21">
              <a:extLst>
                <a:ext uri="{FF2B5EF4-FFF2-40B4-BE49-F238E27FC236}">
                  <a16:creationId xmlns:a16="http://schemas.microsoft.com/office/drawing/2014/main" id="{0D25EA90-B38A-A112-8F0F-101B8A9ECDB2}"/>
                </a:ext>
              </a:extLst>
            </p:cNvPr>
            <p:cNvGrpSpPr/>
            <p:nvPr/>
          </p:nvGrpSpPr>
          <p:grpSpPr>
            <a:xfrm>
              <a:off x="4235560" y="3228480"/>
              <a:ext cx="1825971" cy="884904"/>
              <a:chOff x="4363419" y="3269215"/>
              <a:chExt cx="1825971" cy="884904"/>
            </a:xfrm>
          </p:grpSpPr>
          <p:sp>
            <p:nvSpPr>
              <p:cNvPr id="23" name="Прямоугольник 22">
                <a:extLst>
                  <a:ext uri="{FF2B5EF4-FFF2-40B4-BE49-F238E27FC236}">
                    <a16:creationId xmlns:a16="http://schemas.microsoft.com/office/drawing/2014/main" id="{DDEA1D08-2F26-157D-AF2E-33F5E312942F}"/>
                  </a:ext>
                </a:extLst>
              </p:cNvPr>
              <p:cNvSpPr/>
              <p:nvPr/>
            </p:nvSpPr>
            <p:spPr>
              <a:xfrm>
                <a:off x="4363419" y="3269216"/>
                <a:ext cx="1825970" cy="884903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4" name="Овал 23">
                <a:extLst>
                  <a:ext uri="{FF2B5EF4-FFF2-40B4-BE49-F238E27FC236}">
                    <a16:creationId xmlns:a16="http://schemas.microsoft.com/office/drawing/2014/main" id="{2220F514-55DD-A165-CD58-1588537E68FD}"/>
                  </a:ext>
                </a:extLst>
              </p:cNvPr>
              <p:cNvSpPr/>
              <p:nvPr/>
            </p:nvSpPr>
            <p:spPr>
              <a:xfrm>
                <a:off x="4363421" y="3269215"/>
                <a:ext cx="442451" cy="442451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5" name="Овал 24">
                <a:extLst>
                  <a:ext uri="{FF2B5EF4-FFF2-40B4-BE49-F238E27FC236}">
                    <a16:creationId xmlns:a16="http://schemas.microsoft.com/office/drawing/2014/main" id="{9EF0983C-A59E-3B96-8C47-5AA9A61E3A93}"/>
                  </a:ext>
                </a:extLst>
              </p:cNvPr>
              <p:cNvSpPr/>
              <p:nvPr/>
            </p:nvSpPr>
            <p:spPr>
              <a:xfrm>
                <a:off x="4363419" y="3711667"/>
                <a:ext cx="442451" cy="442451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6" name="Овал 25">
                <a:extLst>
                  <a:ext uri="{FF2B5EF4-FFF2-40B4-BE49-F238E27FC236}">
                    <a16:creationId xmlns:a16="http://schemas.microsoft.com/office/drawing/2014/main" id="{BC8145F2-B2F2-28BD-7AB2-5812A9804955}"/>
                  </a:ext>
                </a:extLst>
              </p:cNvPr>
              <p:cNvSpPr/>
              <p:nvPr/>
            </p:nvSpPr>
            <p:spPr>
              <a:xfrm>
                <a:off x="4833954" y="3711667"/>
                <a:ext cx="442451" cy="442451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7" name="Прямоугольник 26">
                <a:extLst>
                  <a:ext uri="{FF2B5EF4-FFF2-40B4-BE49-F238E27FC236}">
                    <a16:creationId xmlns:a16="http://schemas.microsoft.com/office/drawing/2014/main" id="{8563F049-44AE-03B6-5643-C8C5E0752099}"/>
                  </a:ext>
                </a:extLst>
              </p:cNvPr>
              <p:cNvSpPr/>
              <p:nvPr/>
            </p:nvSpPr>
            <p:spPr>
              <a:xfrm>
                <a:off x="5746939" y="3711667"/>
                <a:ext cx="442451" cy="442451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ru-RU" sz="4000" dirty="0">
                    <a:solidFill>
                      <a:srgbClr val="FF0000"/>
                    </a:solidFill>
                  </a:rPr>
                  <a:t>3</a:t>
                </a:r>
              </a:p>
            </p:txBody>
          </p:sp>
          <p:sp>
            <p:nvSpPr>
              <p:cNvPr id="28" name="Прямоугольник 27">
                <a:extLst>
                  <a:ext uri="{FF2B5EF4-FFF2-40B4-BE49-F238E27FC236}">
                    <a16:creationId xmlns:a16="http://schemas.microsoft.com/office/drawing/2014/main" id="{624C92C6-BC34-525B-0624-933E618AAB23}"/>
                  </a:ext>
                </a:extLst>
              </p:cNvPr>
              <p:cNvSpPr/>
              <p:nvPr/>
            </p:nvSpPr>
            <p:spPr>
              <a:xfrm>
                <a:off x="5746938" y="3269215"/>
                <a:ext cx="442451" cy="442451"/>
              </a:xfrm>
              <a:prstGeom prst="rect">
                <a:avLst/>
              </a:prstGeom>
              <a:ln>
                <a:solidFill>
                  <a:srgbClr val="00B05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sz="4000" dirty="0">
                  <a:solidFill>
                    <a:srgbClr val="00B050"/>
                  </a:solidFill>
                </a:endParaRPr>
              </a:p>
            </p:txBody>
          </p:sp>
        </p:grpSp>
        <p:grpSp>
          <p:nvGrpSpPr>
            <p:cNvPr id="29" name="Группа 28">
              <a:extLst>
                <a:ext uri="{FF2B5EF4-FFF2-40B4-BE49-F238E27FC236}">
                  <a16:creationId xmlns:a16="http://schemas.microsoft.com/office/drawing/2014/main" id="{3642D340-B4AE-67D8-1B26-BE8F34FB911B}"/>
                </a:ext>
              </a:extLst>
            </p:cNvPr>
            <p:cNvGrpSpPr/>
            <p:nvPr/>
          </p:nvGrpSpPr>
          <p:grpSpPr>
            <a:xfrm>
              <a:off x="6588457" y="1876547"/>
              <a:ext cx="1825971" cy="884904"/>
              <a:chOff x="4712481" y="1036001"/>
              <a:chExt cx="1825971" cy="884904"/>
            </a:xfrm>
          </p:grpSpPr>
          <p:sp>
            <p:nvSpPr>
              <p:cNvPr id="30" name="Прямоугольник 29">
                <a:extLst>
                  <a:ext uri="{FF2B5EF4-FFF2-40B4-BE49-F238E27FC236}">
                    <a16:creationId xmlns:a16="http://schemas.microsoft.com/office/drawing/2014/main" id="{5D76A6AF-4B75-D63A-9048-D1E2186602B9}"/>
                  </a:ext>
                </a:extLst>
              </p:cNvPr>
              <p:cNvSpPr/>
              <p:nvPr/>
            </p:nvSpPr>
            <p:spPr>
              <a:xfrm>
                <a:off x="4712481" y="1036002"/>
                <a:ext cx="1825970" cy="884903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1" name="Овал 30">
                <a:extLst>
                  <a:ext uri="{FF2B5EF4-FFF2-40B4-BE49-F238E27FC236}">
                    <a16:creationId xmlns:a16="http://schemas.microsoft.com/office/drawing/2014/main" id="{288915D9-3C29-58A0-BD3E-BA12EEFB5521}"/>
                  </a:ext>
                </a:extLst>
              </p:cNvPr>
              <p:cNvSpPr/>
              <p:nvPr/>
            </p:nvSpPr>
            <p:spPr>
              <a:xfrm>
                <a:off x="4712483" y="1036001"/>
                <a:ext cx="442451" cy="442451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2" name="Овал 31">
                <a:extLst>
                  <a:ext uri="{FF2B5EF4-FFF2-40B4-BE49-F238E27FC236}">
                    <a16:creationId xmlns:a16="http://schemas.microsoft.com/office/drawing/2014/main" id="{8E6A7769-E178-AC2C-D2D9-CB8F430548B1}"/>
                  </a:ext>
                </a:extLst>
              </p:cNvPr>
              <p:cNvSpPr/>
              <p:nvPr/>
            </p:nvSpPr>
            <p:spPr>
              <a:xfrm>
                <a:off x="4712481" y="1478453"/>
                <a:ext cx="442451" cy="442451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3" name="Овал 32">
                <a:extLst>
                  <a:ext uri="{FF2B5EF4-FFF2-40B4-BE49-F238E27FC236}">
                    <a16:creationId xmlns:a16="http://schemas.microsoft.com/office/drawing/2014/main" id="{A8B7623D-84E0-B831-2F22-CFC94043CBB3}"/>
                  </a:ext>
                </a:extLst>
              </p:cNvPr>
              <p:cNvSpPr/>
              <p:nvPr/>
            </p:nvSpPr>
            <p:spPr>
              <a:xfrm>
                <a:off x="5183018" y="1036001"/>
                <a:ext cx="442451" cy="442451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4" name="Овал 33">
                <a:extLst>
                  <a:ext uri="{FF2B5EF4-FFF2-40B4-BE49-F238E27FC236}">
                    <a16:creationId xmlns:a16="http://schemas.microsoft.com/office/drawing/2014/main" id="{219B94A5-8AED-379E-3004-F5EFAFD14135}"/>
                  </a:ext>
                </a:extLst>
              </p:cNvPr>
              <p:cNvSpPr/>
              <p:nvPr/>
            </p:nvSpPr>
            <p:spPr>
              <a:xfrm>
                <a:off x="5183016" y="1478453"/>
                <a:ext cx="442451" cy="442451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5" name="Овал 34">
                <a:extLst>
                  <a:ext uri="{FF2B5EF4-FFF2-40B4-BE49-F238E27FC236}">
                    <a16:creationId xmlns:a16="http://schemas.microsoft.com/office/drawing/2014/main" id="{2921D0F2-7D61-62A9-3CB5-90A037A7CCFF}"/>
                  </a:ext>
                </a:extLst>
              </p:cNvPr>
              <p:cNvSpPr/>
              <p:nvPr/>
            </p:nvSpPr>
            <p:spPr>
              <a:xfrm>
                <a:off x="5653548" y="1036001"/>
                <a:ext cx="442451" cy="442451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6" name="Овал 35">
                <a:extLst>
                  <a:ext uri="{FF2B5EF4-FFF2-40B4-BE49-F238E27FC236}">
                    <a16:creationId xmlns:a16="http://schemas.microsoft.com/office/drawing/2014/main" id="{8709E765-9C8E-322E-7AD4-F2B515768FB5}"/>
                  </a:ext>
                </a:extLst>
              </p:cNvPr>
              <p:cNvSpPr/>
              <p:nvPr/>
            </p:nvSpPr>
            <p:spPr>
              <a:xfrm>
                <a:off x="5653546" y="1478453"/>
                <a:ext cx="442451" cy="442451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7" name="Прямоугольник 36">
                <a:extLst>
                  <a:ext uri="{FF2B5EF4-FFF2-40B4-BE49-F238E27FC236}">
                    <a16:creationId xmlns:a16="http://schemas.microsoft.com/office/drawing/2014/main" id="{B9B29309-822A-32F5-6CFF-ECD09996FBC8}"/>
                  </a:ext>
                </a:extLst>
              </p:cNvPr>
              <p:cNvSpPr/>
              <p:nvPr/>
            </p:nvSpPr>
            <p:spPr>
              <a:xfrm>
                <a:off x="6096001" y="1478453"/>
                <a:ext cx="442451" cy="442451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ru-RU" sz="4000" dirty="0">
                    <a:solidFill>
                      <a:srgbClr val="FF0000"/>
                    </a:solidFill>
                  </a:rPr>
                  <a:t>0</a:t>
                </a:r>
              </a:p>
            </p:txBody>
          </p:sp>
          <p:sp>
            <p:nvSpPr>
              <p:cNvPr id="38" name="Прямоугольник 37">
                <a:extLst>
                  <a:ext uri="{FF2B5EF4-FFF2-40B4-BE49-F238E27FC236}">
                    <a16:creationId xmlns:a16="http://schemas.microsoft.com/office/drawing/2014/main" id="{9D5852EA-7018-7ABE-1FA4-95A88A310EF8}"/>
                  </a:ext>
                </a:extLst>
              </p:cNvPr>
              <p:cNvSpPr/>
              <p:nvPr/>
            </p:nvSpPr>
            <p:spPr>
              <a:xfrm>
                <a:off x="6096000" y="1036001"/>
                <a:ext cx="442451" cy="442451"/>
              </a:xfrm>
              <a:prstGeom prst="rect">
                <a:avLst/>
              </a:prstGeom>
              <a:ln>
                <a:solidFill>
                  <a:srgbClr val="00B05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sz="4000" dirty="0">
                  <a:solidFill>
                    <a:srgbClr val="00B050"/>
                  </a:solidFill>
                </a:endParaRPr>
              </a:p>
            </p:txBody>
          </p:sp>
        </p:grpSp>
        <p:sp>
          <p:nvSpPr>
            <p:cNvPr id="39" name="Стрелка: круговая 38">
              <a:extLst>
                <a:ext uri="{FF2B5EF4-FFF2-40B4-BE49-F238E27FC236}">
                  <a16:creationId xmlns:a16="http://schemas.microsoft.com/office/drawing/2014/main" id="{0FCD940A-6183-B275-CC8D-666BAC3F8CC6}"/>
                </a:ext>
              </a:extLst>
            </p:cNvPr>
            <p:cNvSpPr/>
            <p:nvPr/>
          </p:nvSpPr>
          <p:spPr>
            <a:xfrm rot="5400000">
              <a:off x="6836935" y="2889531"/>
              <a:ext cx="1102250" cy="1439913"/>
            </a:xfrm>
            <a:prstGeom prst="circularArrow">
              <a:avLst>
                <a:gd name="adj1" fmla="val 12500"/>
                <a:gd name="adj2" fmla="val 826727"/>
                <a:gd name="adj3" fmla="val 20457681"/>
                <a:gd name="adj4" fmla="val 3776427"/>
                <a:gd name="adj5" fmla="val 12500"/>
              </a:avLst>
            </a:prstGeom>
            <a:solidFill>
              <a:srgbClr val="FFFF0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  <a:highlight>
                  <a:srgbClr val="FFFF00"/>
                </a:highlight>
              </a:endParaRPr>
            </a:p>
          </p:txBody>
        </p:sp>
      </p:grpSp>
      <p:sp>
        <p:nvSpPr>
          <p:cNvPr id="40" name="Овал 39">
            <a:extLst>
              <a:ext uri="{FF2B5EF4-FFF2-40B4-BE49-F238E27FC236}">
                <a16:creationId xmlns:a16="http://schemas.microsoft.com/office/drawing/2014/main" id="{25804872-6138-DA7A-A195-98D07E850405}"/>
              </a:ext>
            </a:extLst>
          </p:cNvPr>
          <p:cNvSpPr/>
          <p:nvPr/>
        </p:nvSpPr>
        <p:spPr>
          <a:xfrm>
            <a:off x="290757" y="3164416"/>
            <a:ext cx="442451" cy="442451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DC85D76-9E00-8FD8-3F18-051BE7D9FB48}"/>
              </a:ext>
            </a:extLst>
          </p:cNvPr>
          <p:cNvSpPr txBox="1"/>
          <p:nvPr/>
        </p:nvSpPr>
        <p:spPr>
          <a:xfrm>
            <a:off x="792122" y="3237535"/>
            <a:ext cx="2330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Украденная задача</a:t>
            </a:r>
          </a:p>
        </p:txBody>
      </p:sp>
      <p:sp>
        <p:nvSpPr>
          <p:cNvPr id="42" name="Стрелка: круговая 41">
            <a:extLst>
              <a:ext uri="{FF2B5EF4-FFF2-40B4-BE49-F238E27FC236}">
                <a16:creationId xmlns:a16="http://schemas.microsoft.com/office/drawing/2014/main" id="{26CFAEFE-1F1F-0012-AD87-0FC70CE3D761}"/>
              </a:ext>
            </a:extLst>
          </p:cNvPr>
          <p:cNvSpPr/>
          <p:nvPr/>
        </p:nvSpPr>
        <p:spPr>
          <a:xfrm rot="5400000">
            <a:off x="291707" y="4591175"/>
            <a:ext cx="680643" cy="683228"/>
          </a:xfrm>
          <a:prstGeom prst="circularArrow">
            <a:avLst>
              <a:gd name="adj1" fmla="val 12500"/>
              <a:gd name="adj2" fmla="val 826727"/>
              <a:gd name="adj3" fmla="val 20457681"/>
              <a:gd name="adj4" fmla="val 3776427"/>
              <a:gd name="adj5" fmla="val 12500"/>
            </a:avLst>
          </a:prstGeom>
          <a:solidFill>
            <a:srgbClr val="FFFF0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ACDEE61-9FB0-4BDB-2119-00DB2A23DCAA}"/>
              </a:ext>
            </a:extLst>
          </p:cNvPr>
          <p:cNvSpPr txBox="1"/>
          <p:nvPr/>
        </p:nvSpPr>
        <p:spPr>
          <a:xfrm>
            <a:off x="957058" y="4617301"/>
            <a:ext cx="2700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Направление обхода</a:t>
            </a:r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4FEEAFEF-A094-DDF1-C1AE-72ECBCB34586}"/>
              </a:ext>
            </a:extLst>
          </p:cNvPr>
          <p:cNvSpPr/>
          <p:nvPr/>
        </p:nvSpPr>
        <p:spPr>
          <a:xfrm>
            <a:off x="290414" y="1790168"/>
            <a:ext cx="1102472" cy="44245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E2776E7-18E3-13B2-411A-D90F7B4F2906}"/>
              </a:ext>
            </a:extLst>
          </p:cNvPr>
          <p:cNvSpPr txBox="1"/>
          <p:nvPr/>
        </p:nvSpPr>
        <p:spPr>
          <a:xfrm>
            <a:off x="1554229" y="1796303"/>
            <a:ext cx="2330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Пул задач</a:t>
            </a:r>
          </a:p>
        </p:txBody>
      </p:sp>
    </p:spTree>
    <p:extLst>
      <p:ext uri="{BB962C8B-B14F-4D97-AF65-F5344CB8AC3E}">
        <p14:creationId xmlns:p14="http://schemas.microsoft.com/office/powerpoint/2010/main" val="27063600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FB928-51F2-272F-F469-E3FE69264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61EDE76-7038-C41B-5C54-926315F6C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7CC-CB90-4A98-9AE2-791F6193C32F}" type="slidenum">
              <a:rPr lang="ru-RU" smtClean="0"/>
              <a:t>12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4E3B10-524B-C75F-D1A4-B29D3A109D7E}"/>
              </a:ext>
            </a:extLst>
          </p:cNvPr>
          <p:cNvSpPr txBox="1"/>
          <p:nvPr/>
        </p:nvSpPr>
        <p:spPr>
          <a:xfrm>
            <a:off x="341643" y="160774"/>
            <a:ext cx="75764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</a:rPr>
              <a:t>Планировщик. Схема работы. 2</a:t>
            </a: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6CAFB6A5-B631-0435-0EBD-A8EFAE6FD5F6}"/>
              </a:ext>
            </a:extLst>
          </p:cNvPr>
          <p:cNvGrpSpPr/>
          <p:nvPr/>
        </p:nvGrpSpPr>
        <p:grpSpPr>
          <a:xfrm>
            <a:off x="8842016" y="3228480"/>
            <a:ext cx="1825971" cy="884904"/>
            <a:chOff x="4712481" y="1036001"/>
            <a:chExt cx="1825971" cy="884904"/>
          </a:xfrm>
        </p:grpSpPr>
        <p:sp>
          <p:nvSpPr>
            <p:cNvPr id="3" name="Прямоугольник 2">
              <a:extLst>
                <a:ext uri="{FF2B5EF4-FFF2-40B4-BE49-F238E27FC236}">
                  <a16:creationId xmlns:a16="http://schemas.microsoft.com/office/drawing/2014/main" id="{84ECC47A-3E7A-A166-38D1-DB3CCFF56061}"/>
                </a:ext>
              </a:extLst>
            </p:cNvPr>
            <p:cNvSpPr/>
            <p:nvPr/>
          </p:nvSpPr>
          <p:spPr>
            <a:xfrm>
              <a:off x="4712481" y="1036002"/>
              <a:ext cx="1825970" cy="88490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EF273DB8-0E12-3241-BA63-F736862AA472}"/>
                </a:ext>
              </a:extLst>
            </p:cNvPr>
            <p:cNvSpPr/>
            <p:nvPr/>
          </p:nvSpPr>
          <p:spPr>
            <a:xfrm>
              <a:off x="6096001" y="1478453"/>
              <a:ext cx="442451" cy="442451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sz="4000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32937CA2-C145-947C-5B14-8F2A38555C04}"/>
                </a:ext>
              </a:extLst>
            </p:cNvPr>
            <p:cNvSpPr/>
            <p:nvPr/>
          </p:nvSpPr>
          <p:spPr>
            <a:xfrm>
              <a:off x="6096000" y="1036001"/>
              <a:ext cx="442451" cy="44245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sz="4000" dirty="0">
                <a:solidFill>
                  <a:srgbClr val="00B050"/>
                </a:solidFill>
              </a:endParaRPr>
            </a:p>
          </p:txBody>
        </p:sp>
      </p:grpSp>
      <p:sp>
        <p:nvSpPr>
          <p:cNvPr id="9" name="Овал 8">
            <a:extLst>
              <a:ext uri="{FF2B5EF4-FFF2-40B4-BE49-F238E27FC236}">
                <a16:creationId xmlns:a16="http://schemas.microsoft.com/office/drawing/2014/main" id="{A129ECCA-93CB-4516-148A-60C20A232603}"/>
              </a:ext>
            </a:extLst>
          </p:cNvPr>
          <p:cNvSpPr/>
          <p:nvPr/>
        </p:nvSpPr>
        <p:spPr>
          <a:xfrm>
            <a:off x="290759" y="2466485"/>
            <a:ext cx="442451" cy="44245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06F9FC-AEC0-96E1-D60C-35E9BFA2C172}"/>
              </a:ext>
            </a:extLst>
          </p:cNvPr>
          <p:cNvSpPr txBox="1"/>
          <p:nvPr/>
        </p:nvSpPr>
        <p:spPr>
          <a:xfrm>
            <a:off x="841390" y="2417321"/>
            <a:ext cx="23302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Ожидающая выполнения задача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D901F82-9EF9-F742-1F1C-B6796DC66D25}"/>
              </a:ext>
            </a:extLst>
          </p:cNvPr>
          <p:cNvSpPr/>
          <p:nvPr/>
        </p:nvSpPr>
        <p:spPr>
          <a:xfrm>
            <a:off x="290757" y="3878442"/>
            <a:ext cx="442451" cy="442451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40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59E264-FEA5-F0B9-0C11-6E20696416A3}"/>
              </a:ext>
            </a:extLst>
          </p:cNvPr>
          <p:cNvSpPr txBox="1"/>
          <p:nvPr/>
        </p:nvSpPr>
        <p:spPr>
          <a:xfrm>
            <a:off x="841390" y="3797467"/>
            <a:ext cx="2330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Номер пула</a:t>
            </a:r>
          </a:p>
        </p:txBody>
      </p:sp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75BB2DC1-5B88-FC68-D1DE-23D37B510B82}"/>
              </a:ext>
            </a:extLst>
          </p:cNvPr>
          <p:cNvGrpSpPr/>
          <p:nvPr/>
        </p:nvGrpSpPr>
        <p:grpSpPr>
          <a:xfrm>
            <a:off x="4235560" y="3228480"/>
            <a:ext cx="1825971" cy="884904"/>
            <a:chOff x="4363419" y="3269215"/>
            <a:chExt cx="1825971" cy="884904"/>
          </a:xfrm>
        </p:grpSpPr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EAADAF2D-451A-D911-85B8-06C3C5A35385}"/>
                </a:ext>
              </a:extLst>
            </p:cNvPr>
            <p:cNvSpPr/>
            <p:nvPr/>
          </p:nvSpPr>
          <p:spPr>
            <a:xfrm>
              <a:off x="4363419" y="3269216"/>
              <a:ext cx="1825970" cy="88490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Овал 23">
              <a:extLst>
                <a:ext uri="{FF2B5EF4-FFF2-40B4-BE49-F238E27FC236}">
                  <a16:creationId xmlns:a16="http://schemas.microsoft.com/office/drawing/2014/main" id="{3FB16950-3F76-CA6E-CFAD-35490C037C7D}"/>
                </a:ext>
              </a:extLst>
            </p:cNvPr>
            <p:cNvSpPr/>
            <p:nvPr/>
          </p:nvSpPr>
          <p:spPr>
            <a:xfrm>
              <a:off x="4363421" y="3269215"/>
              <a:ext cx="442451" cy="44245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Овал 24">
              <a:extLst>
                <a:ext uri="{FF2B5EF4-FFF2-40B4-BE49-F238E27FC236}">
                  <a16:creationId xmlns:a16="http://schemas.microsoft.com/office/drawing/2014/main" id="{83492E4A-D3BF-3B59-3F2C-EF19F848CFCB}"/>
                </a:ext>
              </a:extLst>
            </p:cNvPr>
            <p:cNvSpPr/>
            <p:nvPr/>
          </p:nvSpPr>
          <p:spPr>
            <a:xfrm>
              <a:off x="4363419" y="3711667"/>
              <a:ext cx="442451" cy="44245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Овал 25">
              <a:extLst>
                <a:ext uri="{FF2B5EF4-FFF2-40B4-BE49-F238E27FC236}">
                  <a16:creationId xmlns:a16="http://schemas.microsoft.com/office/drawing/2014/main" id="{3E54179E-DA1D-70CD-BDC9-94D291B75BD7}"/>
                </a:ext>
              </a:extLst>
            </p:cNvPr>
            <p:cNvSpPr/>
            <p:nvPr/>
          </p:nvSpPr>
          <p:spPr>
            <a:xfrm>
              <a:off x="4833954" y="3711667"/>
              <a:ext cx="442451" cy="44245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B2B5170C-12C6-4136-A7E8-6A9A40927954}"/>
                </a:ext>
              </a:extLst>
            </p:cNvPr>
            <p:cNvSpPr/>
            <p:nvPr/>
          </p:nvSpPr>
          <p:spPr>
            <a:xfrm>
              <a:off x="5746939" y="3711667"/>
              <a:ext cx="442451" cy="442451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sz="4000" dirty="0">
                  <a:solidFill>
                    <a:srgbClr val="FF0000"/>
                  </a:solidFill>
                </a:rPr>
                <a:t>3</a:t>
              </a:r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867639FD-60A2-B21B-8599-BE6FACA4A4C2}"/>
                </a:ext>
              </a:extLst>
            </p:cNvPr>
            <p:cNvSpPr/>
            <p:nvPr/>
          </p:nvSpPr>
          <p:spPr>
            <a:xfrm>
              <a:off x="5746938" y="3269215"/>
              <a:ext cx="442451" cy="44245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sz="4000" dirty="0">
                <a:solidFill>
                  <a:srgbClr val="00B050"/>
                </a:solidFill>
              </a:endParaRPr>
            </a:p>
          </p:txBody>
        </p:sp>
      </p:grp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7052929D-FBB6-9D84-90E7-94A71464BB27}"/>
              </a:ext>
            </a:extLst>
          </p:cNvPr>
          <p:cNvGrpSpPr/>
          <p:nvPr/>
        </p:nvGrpSpPr>
        <p:grpSpPr>
          <a:xfrm>
            <a:off x="6588457" y="1876547"/>
            <a:ext cx="1825971" cy="884904"/>
            <a:chOff x="4712481" y="1036001"/>
            <a:chExt cx="1825971" cy="884904"/>
          </a:xfrm>
        </p:grpSpPr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22D83860-122E-2FD0-F517-98E50F81864B}"/>
                </a:ext>
              </a:extLst>
            </p:cNvPr>
            <p:cNvSpPr/>
            <p:nvPr/>
          </p:nvSpPr>
          <p:spPr>
            <a:xfrm>
              <a:off x="4712481" y="1036002"/>
              <a:ext cx="1825970" cy="88490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Овал 30">
              <a:extLst>
                <a:ext uri="{FF2B5EF4-FFF2-40B4-BE49-F238E27FC236}">
                  <a16:creationId xmlns:a16="http://schemas.microsoft.com/office/drawing/2014/main" id="{5AC979CD-8D1D-EF94-C6CF-4A29D7890C5F}"/>
                </a:ext>
              </a:extLst>
            </p:cNvPr>
            <p:cNvSpPr/>
            <p:nvPr/>
          </p:nvSpPr>
          <p:spPr>
            <a:xfrm>
              <a:off x="4712483" y="1036001"/>
              <a:ext cx="442451" cy="44245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2" name="Овал 31">
              <a:extLst>
                <a:ext uri="{FF2B5EF4-FFF2-40B4-BE49-F238E27FC236}">
                  <a16:creationId xmlns:a16="http://schemas.microsoft.com/office/drawing/2014/main" id="{F6896795-7FDF-115F-7499-3D4DB1E5651F}"/>
                </a:ext>
              </a:extLst>
            </p:cNvPr>
            <p:cNvSpPr/>
            <p:nvPr/>
          </p:nvSpPr>
          <p:spPr>
            <a:xfrm>
              <a:off x="4712481" y="1478453"/>
              <a:ext cx="442451" cy="44245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3" name="Овал 32">
              <a:extLst>
                <a:ext uri="{FF2B5EF4-FFF2-40B4-BE49-F238E27FC236}">
                  <a16:creationId xmlns:a16="http://schemas.microsoft.com/office/drawing/2014/main" id="{7CB4DAF8-A269-3A1B-A21B-B412709DD4E5}"/>
                </a:ext>
              </a:extLst>
            </p:cNvPr>
            <p:cNvSpPr/>
            <p:nvPr/>
          </p:nvSpPr>
          <p:spPr>
            <a:xfrm>
              <a:off x="5183018" y="1036001"/>
              <a:ext cx="442451" cy="44245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4" name="Овал 33">
              <a:extLst>
                <a:ext uri="{FF2B5EF4-FFF2-40B4-BE49-F238E27FC236}">
                  <a16:creationId xmlns:a16="http://schemas.microsoft.com/office/drawing/2014/main" id="{CF6BF9C4-A4F2-0E80-DD5E-B482E6A729F9}"/>
                </a:ext>
              </a:extLst>
            </p:cNvPr>
            <p:cNvSpPr/>
            <p:nvPr/>
          </p:nvSpPr>
          <p:spPr>
            <a:xfrm>
              <a:off x="5183016" y="1478453"/>
              <a:ext cx="442451" cy="44245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5" name="Овал 34">
              <a:extLst>
                <a:ext uri="{FF2B5EF4-FFF2-40B4-BE49-F238E27FC236}">
                  <a16:creationId xmlns:a16="http://schemas.microsoft.com/office/drawing/2014/main" id="{11CB95E3-55B0-2AD9-DC4C-A032886ECA79}"/>
                </a:ext>
              </a:extLst>
            </p:cNvPr>
            <p:cNvSpPr/>
            <p:nvPr/>
          </p:nvSpPr>
          <p:spPr>
            <a:xfrm>
              <a:off x="5653548" y="1036001"/>
              <a:ext cx="442451" cy="44245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Овал 35">
              <a:extLst>
                <a:ext uri="{FF2B5EF4-FFF2-40B4-BE49-F238E27FC236}">
                  <a16:creationId xmlns:a16="http://schemas.microsoft.com/office/drawing/2014/main" id="{B261825D-66E8-C113-179D-D63E048C374A}"/>
                </a:ext>
              </a:extLst>
            </p:cNvPr>
            <p:cNvSpPr/>
            <p:nvPr/>
          </p:nvSpPr>
          <p:spPr>
            <a:xfrm>
              <a:off x="5653546" y="1478453"/>
              <a:ext cx="442451" cy="44245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id="{E5A72878-69D1-EA6E-A1E9-028DDE04DD16}"/>
                </a:ext>
              </a:extLst>
            </p:cNvPr>
            <p:cNvSpPr/>
            <p:nvPr/>
          </p:nvSpPr>
          <p:spPr>
            <a:xfrm>
              <a:off x="6096001" y="1478453"/>
              <a:ext cx="442451" cy="442451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sz="4000" dirty="0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id="{BC51689C-25A1-0ADA-C89F-B7BD8A9264A6}"/>
                </a:ext>
              </a:extLst>
            </p:cNvPr>
            <p:cNvSpPr/>
            <p:nvPr/>
          </p:nvSpPr>
          <p:spPr>
            <a:xfrm>
              <a:off x="6096000" y="1036001"/>
              <a:ext cx="442451" cy="44245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sz="4000" dirty="0">
                <a:solidFill>
                  <a:srgbClr val="00B050"/>
                </a:solidFill>
              </a:endParaRPr>
            </a:p>
          </p:txBody>
        </p:sp>
      </p:grpSp>
      <p:sp>
        <p:nvSpPr>
          <p:cNvPr id="39" name="Стрелка: круговая 38">
            <a:extLst>
              <a:ext uri="{FF2B5EF4-FFF2-40B4-BE49-F238E27FC236}">
                <a16:creationId xmlns:a16="http://schemas.microsoft.com/office/drawing/2014/main" id="{139DCEFC-E02F-F0D1-B581-FA38E7108C75}"/>
              </a:ext>
            </a:extLst>
          </p:cNvPr>
          <p:cNvSpPr/>
          <p:nvPr/>
        </p:nvSpPr>
        <p:spPr>
          <a:xfrm rot="5400000">
            <a:off x="6836935" y="2889531"/>
            <a:ext cx="1102250" cy="1439913"/>
          </a:xfrm>
          <a:prstGeom prst="circularArrow">
            <a:avLst>
              <a:gd name="adj1" fmla="val 12500"/>
              <a:gd name="adj2" fmla="val 826727"/>
              <a:gd name="adj3" fmla="val 20457681"/>
              <a:gd name="adj4" fmla="val 3776427"/>
              <a:gd name="adj5" fmla="val 12500"/>
            </a:avLst>
          </a:prstGeom>
          <a:solidFill>
            <a:srgbClr val="FFFF0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40" name="Овал 39">
            <a:extLst>
              <a:ext uri="{FF2B5EF4-FFF2-40B4-BE49-F238E27FC236}">
                <a16:creationId xmlns:a16="http://schemas.microsoft.com/office/drawing/2014/main" id="{2AAD0E43-2115-0556-E5AD-B249A567CF2A}"/>
              </a:ext>
            </a:extLst>
          </p:cNvPr>
          <p:cNvSpPr/>
          <p:nvPr/>
        </p:nvSpPr>
        <p:spPr>
          <a:xfrm>
            <a:off x="290757" y="3164416"/>
            <a:ext cx="442451" cy="442451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DE8CB6E-9D0A-55E5-A412-6C60BFE3B702}"/>
              </a:ext>
            </a:extLst>
          </p:cNvPr>
          <p:cNvSpPr txBox="1"/>
          <p:nvPr/>
        </p:nvSpPr>
        <p:spPr>
          <a:xfrm>
            <a:off x="792122" y="3237535"/>
            <a:ext cx="2330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Украденная задача</a:t>
            </a:r>
          </a:p>
        </p:txBody>
      </p:sp>
      <p:sp>
        <p:nvSpPr>
          <p:cNvPr id="42" name="Стрелка: круговая 41">
            <a:extLst>
              <a:ext uri="{FF2B5EF4-FFF2-40B4-BE49-F238E27FC236}">
                <a16:creationId xmlns:a16="http://schemas.microsoft.com/office/drawing/2014/main" id="{A9F1CFE3-3CE3-B2FA-C698-60C97B682C78}"/>
              </a:ext>
            </a:extLst>
          </p:cNvPr>
          <p:cNvSpPr/>
          <p:nvPr/>
        </p:nvSpPr>
        <p:spPr>
          <a:xfrm rot="5400000">
            <a:off x="291707" y="4591175"/>
            <a:ext cx="680643" cy="683228"/>
          </a:xfrm>
          <a:prstGeom prst="circularArrow">
            <a:avLst>
              <a:gd name="adj1" fmla="val 12500"/>
              <a:gd name="adj2" fmla="val 826727"/>
              <a:gd name="adj3" fmla="val 20457681"/>
              <a:gd name="adj4" fmla="val 3776427"/>
              <a:gd name="adj5" fmla="val 12500"/>
            </a:avLst>
          </a:prstGeom>
          <a:solidFill>
            <a:srgbClr val="FFFF0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A36313E-0305-EC27-0485-4E3D57B5EF29}"/>
              </a:ext>
            </a:extLst>
          </p:cNvPr>
          <p:cNvSpPr txBox="1"/>
          <p:nvPr/>
        </p:nvSpPr>
        <p:spPr>
          <a:xfrm>
            <a:off x="957058" y="4617301"/>
            <a:ext cx="2700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Направление обхода</a:t>
            </a:r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A5C8A509-56EE-E28E-7826-96EC7927E17D}"/>
              </a:ext>
            </a:extLst>
          </p:cNvPr>
          <p:cNvSpPr/>
          <p:nvPr/>
        </p:nvSpPr>
        <p:spPr>
          <a:xfrm>
            <a:off x="290414" y="1790168"/>
            <a:ext cx="1102472" cy="44245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D5B383C-299A-6F53-E8A3-F296EEEB4B6D}"/>
              </a:ext>
            </a:extLst>
          </p:cNvPr>
          <p:cNvSpPr txBox="1"/>
          <p:nvPr/>
        </p:nvSpPr>
        <p:spPr>
          <a:xfrm>
            <a:off x="1554229" y="1796303"/>
            <a:ext cx="2330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Пул задач</a:t>
            </a:r>
          </a:p>
        </p:txBody>
      </p: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669F5EEA-532D-154E-7234-6914A5C87315}"/>
              </a:ext>
            </a:extLst>
          </p:cNvPr>
          <p:cNvCxnSpPr>
            <a:cxnSpLocks/>
            <a:stCxn id="3" idx="2"/>
          </p:cNvCxnSpPr>
          <p:nvPr/>
        </p:nvCxnSpPr>
        <p:spPr>
          <a:xfrm flipH="1">
            <a:off x="8414426" y="4113384"/>
            <a:ext cx="1340575" cy="786592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1D41F6DA-E99B-2F74-8D3A-72765CB4C2B2}"/>
              </a:ext>
            </a:extLst>
          </p:cNvPr>
          <p:cNvSpPr txBox="1"/>
          <p:nvPr/>
        </p:nvSpPr>
        <p:spPr>
          <a:xfrm>
            <a:off x="8859685" y="4569668"/>
            <a:ext cx="25948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Дай задачу</a:t>
            </a:r>
          </a:p>
        </p:txBody>
      </p:sp>
      <p:grpSp>
        <p:nvGrpSpPr>
          <p:cNvPr id="50" name="Группа 49">
            <a:extLst>
              <a:ext uri="{FF2B5EF4-FFF2-40B4-BE49-F238E27FC236}">
                <a16:creationId xmlns:a16="http://schemas.microsoft.com/office/drawing/2014/main" id="{61135041-2B38-3310-7912-8D15EC2EFC87}"/>
              </a:ext>
            </a:extLst>
          </p:cNvPr>
          <p:cNvGrpSpPr/>
          <p:nvPr/>
        </p:nvGrpSpPr>
        <p:grpSpPr>
          <a:xfrm>
            <a:off x="6588452" y="4457525"/>
            <a:ext cx="1825975" cy="884904"/>
            <a:chOff x="6588452" y="4457525"/>
            <a:chExt cx="1825975" cy="884904"/>
          </a:xfrm>
        </p:grpSpPr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8A30DEDB-CF5A-E9AD-C4CA-523EE522242A}"/>
                </a:ext>
              </a:extLst>
            </p:cNvPr>
            <p:cNvSpPr/>
            <p:nvPr/>
          </p:nvSpPr>
          <p:spPr>
            <a:xfrm>
              <a:off x="6588456" y="4457526"/>
              <a:ext cx="1825970" cy="88490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Овал 15">
              <a:extLst>
                <a:ext uri="{FF2B5EF4-FFF2-40B4-BE49-F238E27FC236}">
                  <a16:creationId xmlns:a16="http://schemas.microsoft.com/office/drawing/2014/main" id="{A6280E64-DC45-8ED5-CBF1-DE89A1BDC1EE}"/>
                </a:ext>
              </a:extLst>
            </p:cNvPr>
            <p:cNvSpPr/>
            <p:nvPr/>
          </p:nvSpPr>
          <p:spPr>
            <a:xfrm>
              <a:off x="6588456" y="4899977"/>
              <a:ext cx="442451" cy="44245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Овал 16">
              <a:extLst>
                <a:ext uri="{FF2B5EF4-FFF2-40B4-BE49-F238E27FC236}">
                  <a16:creationId xmlns:a16="http://schemas.microsoft.com/office/drawing/2014/main" id="{90F15C35-38AE-C7FF-51EA-690D96C70FA3}"/>
                </a:ext>
              </a:extLst>
            </p:cNvPr>
            <p:cNvSpPr/>
            <p:nvPr/>
          </p:nvSpPr>
          <p:spPr>
            <a:xfrm>
              <a:off x="7058993" y="4457525"/>
              <a:ext cx="442451" cy="44245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Овал 17">
              <a:extLst>
                <a:ext uri="{FF2B5EF4-FFF2-40B4-BE49-F238E27FC236}">
                  <a16:creationId xmlns:a16="http://schemas.microsoft.com/office/drawing/2014/main" id="{716FFAF6-C7E4-6520-4F41-87619D50D712}"/>
                </a:ext>
              </a:extLst>
            </p:cNvPr>
            <p:cNvSpPr/>
            <p:nvPr/>
          </p:nvSpPr>
          <p:spPr>
            <a:xfrm>
              <a:off x="7058991" y="4899977"/>
              <a:ext cx="442451" cy="44245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Овал 18">
              <a:extLst>
                <a:ext uri="{FF2B5EF4-FFF2-40B4-BE49-F238E27FC236}">
                  <a16:creationId xmlns:a16="http://schemas.microsoft.com/office/drawing/2014/main" id="{5212CAC2-FDED-9BA1-731D-7BE3D82AA4F4}"/>
                </a:ext>
              </a:extLst>
            </p:cNvPr>
            <p:cNvSpPr/>
            <p:nvPr/>
          </p:nvSpPr>
          <p:spPr>
            <a:xfrm>
              <a:off x="7529521" y="4899977"/>
              <a:ext cx="442451" cy="44245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34641C52-32FF-8C61-89AF-EF9CDEC5FEE6}"/>
                </a:ext>
              </a:extLst>
            </p:cNvPr>
            <p:cNvSpPr/>
            <p:nvPr/>
          </p:nvSpPr>
          <p:spPr>
            <a:xfrm>
              <a:off x="7971976" y="4899977"/>
              <a:ext cx="442451" cy="442451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sz="4000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EDB355AB-3582-01B6-F2E1-E8AD8C7DE794}"/>
                </a:ext>
              </a:extLst>
            </p:cNvPr>
            <p:cNvSpPr/>
            <p:nvPr/>
          </p:nvSpPr>
          <p:spPr>
            <a:xfrm>
              <a:off x="7971975" y="4457525"/>
              <a:ext cx="442451" cy="44245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sz="4000" dirty="0">
                <a:solidFill>
                  <a:srgbClr val="00B050"/>
                </a:solidFill>
              </a:endParaRPr>
            </a:p>
          </p:txBody>
        </p:sp>
        <p:sp>
          <p:nvSpPr>
            <p:cNvPr id="49" name="Овал 48">
              <a:extLst>
                <a:ext uri="{FF2B5EF4-FFF2-40B4-BE49-F238E27FC236}">
                  <a16:creationId xmlns:a16="http://schemas.microsoft.com/office/drawing/2014/main" id="{B383B7FA-F836-F8FC-7089-986C70141BBC}"/>
                </a:ext>
              </a:extLst>
            </p:cNvPr>
            <p:cNvSpPr/>
            <p:nvPr/>
          </p:nvSpPr>
          <p:spPr>
            <a:xfrm>
              <a:off x="6588452" y="4457525"/>
              <a:ext cx="442451" cy="442451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9936935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70245-70A4-0C2D-8C0F-5530D6E69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47DAF8-18E2-8210-70E0-1AA3DF5C8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7CC-CB90-4A98-9AE2-791F6193C32F}" type="slidenum">
              <a:rPr lang="ru-RU" smtClean="0"/>
              <a:t>13</a:t>
            </a:fld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C5FD5B-9222-7AD1-C105-03C3CA3F31AF}"/>
              </a:ext>
            </a:extLst>
          </p:cNvPr>
          <p:cNvSpPr txBox="1"/>
          <p:nvPr/>
        </p:nvSpPr>
        <p:spPr>
          <a:xfrm>
            <a:off x="341643" y="160774"/>
            <a:ext cx="75764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</a:rPr>
              <a:t>Планировщик. Схема работы. 3</a:t>
            </a: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2FE9747D-30B8-0071-0EDD-BB487B811C27}"/>
              </a:ext>
            </a:extLst>
          </p:cNvPr>
          <p:cNvGrpSpPr/>
          <p:nvPr/>
        </p:nvGrpSpPr>
        <p:grpSpPr>
          <a:xfrm>
            <a:off x="8842016" y="3228480"/>
            <a:ext cx="1825971" cy="884904"/>
            <a:chOff x="4712481" y="1036001"/>
            <a:chExt cx="1825971" cy="884904"/>
          </a:xfrm>
        </p:grpSpPr>
        <p:sp>
          <p:nvSpPr>
            <p:cNvPr id="3" name="Прямоугольник 2">
              <a:extLst>
                <a:ext uri="{FF2B5EF4-FFF2-40B4-BE49-F238E27FC236}">
                  <a16:creationId xmlns:a16="http://schemas.microsoft.com/office/drawing/2014/main" id="{84D7452B-C146-536E-CF20-E4D76D60E3AE}"/>
                </a:ext>
              </a:extLst>
            </p:cNvPr>
            <p:cNvSpPr/>
            <p:nvPr/>
          </p:nvSpPr>
          <p:spPr>
            <a:xfrm>
              <a:off x="4712481" y="1036002"/>
              <a:ext cx="1825970" cy="88490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869E982C-931B-EB36-FC50-EDE916491442}"/>
                </a:ext>
              </a:extLst>
            </p:cNvPr>
            <p:cNvSpPr/>
            <p:nvPr/>
          </p:nvSpPr>
          <p:spPr>
            <a:xfrm>
              <a:off x="6096001" y="1478453"/>
              <a:ext cx="442451" cy="442451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sz="4000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A681917C-45DB-02B3-B925-79A161889DDE}"/>
                </a:ext>
              </a:extLst>
            </p:cNvPr>
            <p:cNvSpPr/>
            <p:nvPr/>
          </p:nvSpPr>
          <p:spPr>
            <a:xfrm>
              <a:off x="6096000" y="1036001"/>
              <a:ext cx="442451" cy="44245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sz="4000" dirty="0">
                <a:solidFill>
                  <a:srgbClr val="00B050"/>
                </a:solidFill>
              </a:endParaRPr>
            </a:p>
          </p:txBody>
        </p:sp>
      </p:grpSp>
      <p:sp>
        <p:nvSpPr>
          <p:cNvPr id="9" name="Овал 8">
            <a:extLst>
              <a:ext uri="{FF2B5EF4-FFF2-40B4-BE49-F238E27FC236}">
                <a16:creationId xmlns:a16="http://schemas.microsoft.com/office/drawing/2014/main" id="{5FD4D13E-B311-B4C4-3B31-16DF70EA2979}"/>
              </a:ext>
            </a:extLst>
          </p:cNvPr>
          <p:cNvSpPr/>
          <p:nvPr/>
        </p:nvSpPr>
        <p:spPr>
          <a:xfrm>
            <a:off x="290759" y="2466485"/>
            <a:ext cx="442451" cy="44245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5A1511-E6BF-724D-F706-0302DB3CE6BD}"/>
              </a:ext>
            </a:extLst>
          </p:cNvPr>
          <p:cNvSpPr txBox="1"/>
          <p:nvPr/>
        </p:nvSpPr>
        <p:spPr>
          <a:xfrm>
            <a:off x="841390" y="2417321"/>
            <a:ext cx="23302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Ожидающая выполнения задача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F02AA5C-AEAE-B815-3F4F-EB89366EF2B5}"/>
              </a:ext>
            </a:extLst>
          </p:cNvPr>
          <p:cNvSpPr/>
          <p:nvPr/>
        </p:nvSpPr>
        <p:spPr>
          <a:xfrm>
            <a:off x="290757" y="3878442"/>
            <a:ext cx="442451" cy="442451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40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10C642-CE83-F6FD-567F-3CFE657DF7DA}"/>
              </a:ext>
            </a:extLst>
          </p:cNvPr>
          <p:cNvSpPr txBox="1"/>
          <p:nvPr/>
        </p:nvSpPr>
        <p:spPr>
          <a:xfrm>
            <a:off x="841390" y="3797467"/>
            <a:ext cx="2330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Номер пула</a:t>
            </a:r>
          </a:p>
        </p:txBody>
      </p:sp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E109A2AE-3864-32B4-2F10-324834B544F1}"/>
              </a:ext>
            </a:extLst>
          </p:cNvPr>
          <p:cNvGrpSpPr/>
          <p:nvPr/>
        </p:nvGrpSpPr>
        <p:grpSpPr>
          <a:xfrm>
            <a:off x="4235560" y="3228480"/>
            <a:ext cx="1825971" cy="884904"/>
            <a:chOff x="4363419" y="3269215"/>
            <a:chExt cx="1825971" cy="884904"/>
          </a:xfrm>
        </p:grpSpPr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3C28A0D2-EEB8-61FF-FDBE-1D722593DD11}"/>
                </a:ext>
              </a:extLst>
            </p:cNvPr>
            <p:cNvSpPr/>
            <p:nvPr/>
          </p:nvSpPr>
          <p:spPr>
            <a:xfrm>
              <a:off x="4363419" y="3269216"/>
              <a:ext cx="1825970" cy="88490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Овал 23">
              <a:extLst>
                <a:ext uri="{FF2B5EF4-FFF2-40B4-BE49-F238E27FC236}">
                  <a16:creationId xmlns:a16="http://schemas.microsoft.com/office/drawing/2014/main" id="{195DAE92-3499-90CF-41B7-D3D4FD35DE8D}"/>
                </a:ext>
              </a:extLst>
            </p:cNvPr>
            <p:cNvSpPr/>
            <p:nvPr/>
          </p:nvSpPr>
          <p:spPr>
            <a:xfrm>
              <a:off x="4363421" y="3269215"/>
              <a:ext cx="442451" cy="44245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Овал 24">
              <a:extLst>
                <a:ext uri="{FF2B5EF4-FFF2-40B4-BE49-F238E27FC236}">
                  <a16:creationId xmlns:a16="http://schemas.microsoft.com/office/drawing/2014/main" id="{D42E16E3-6627-6417-0251-7AD5C8333E24}"/>
                </a:ext>
              </a:extLst>
            </p:cNvPr>
            <p:cNvSpPr/>
            <p:nvPr/>
          </p:nvSpPr>
          <p:spPr>
            <a:xfrm>
              <a:off x="4363419" y="3711667"/>
              <a:ext cx="442451" cy="44245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Овал 25">
              <a:extLst>
                <a:ext uri="{FF2B5EF4-FFF2-40B4-BE49-F238E27FC236}">
                  <a16:creationId xmlns:a16="http://schemas.microsoft.com/office/drawing/2014/main" id="{928618F2-AC09-E1F1-E015-CE994D068F2C}"/>
                </a:ext>
              </a:extLst>
            </p:cNvPr>
            <p:cNvSpPr/>
            <p:nvPr/>
          </p:nvSpPr>
          <p:spPr>
            <a:xfrm>
              <a:off x="4833954" y="3711667"/>
              <a:ext cx="442451" cy="44245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26C89DDB-49F9-3485-AC84-C09A2F6C7775}"/>
                </a:ext>
              </a:extLst>
            </p:cNvPr>
            <p:cNvSpPr/>
            <p:nvPr/>
          </p:nvSpPr>
          <p:spPr>
            <a:xfrm>
              <a:off x="5746939" y="3711667"/>
              <a:ext cx="442451" cy="442451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sz="4000" dirty="0">
                  <a:solidFill>
                    <a:srgbClr val="FF0000"/>
                  </a:solidFill>
                </a:rPr>
                <a:t>3</a:t>
              </a:r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172B3422-47F3-27EA-687B-83980ACDCC5E}"/>
                </a:ext>
              </a:extLst>
            </p:cNvPr>
            <p:cNvSpPr/>
            <p:nvPr/>
          </p:nvSpPr>
          <p:spPr>
            <a:xfrm>
              <a:off x="5746938" y="3269215"/>
              <a:ext cx="442451" cy="44245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sz="4000" dirty="0">
                <a:solidFill>
                  <a:srgbClr val="00B050"/>
                </a:solidFill>
              </a:endParaRPr>
            </a:p>
          </p:txBody>
        </p:sp>
      </p:grp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868B676C-EF8C-6B76-0E6F-5F44EB127CB7}"/>
              </a:ext>
            </a:extLst>
          </p:cNvPr>
          <p:cNvGrpSpPr/>
          <p:nvPr/>
        </p:nvGrpSpPr>
        <p:grpSpPr>
          <a:xfrm>
            <a:off x="6588457" y="1876547"/>
            <a:ext cx="1825971" cy="884904"/>
            <a:chOff x="4712481" y="1036001"/>
            <a:chExt cx="1825971" cy="884904"/>
          </a:xfrm>
        </p:grpSpPr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70A6BF44-D27F-CF30-8246-8E98893115C0}"/>
                </a:ext>
              </a:extLst>
            </p:cNvPr>
            <p:cNvSpPr/>
            <p:nvPr/>
          </p:nvSpPr>
          <p:spPr>
            <a:xfrm>
              <a:off x="4712481" y="1036002"/>
              <a:ext cx="1825970" cy="88490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Овал 30">
              <a:extLst>
                <a:ext uri="{FF2B5EF4-FFF2-40B4-BE49-F238E27FC236}">
                  <a16:creationId xmlns:a16="http://schemas.microsoft.com/office/drawing/2014/main" id="{87E094E1-12FE-6474-51A9-5C6BE07B4F76}"/>
                </a:ext>
              </a:extLst>
            </p:cNvPr>
            <p:cNvSpPr/>
            <p:nvPr/>
          </p:nvSpPr>
          <p:spPr>
            <a:xfrm>
              <a:off x="4712483" y="1036001"/>
              <a:ext cx="442451" cy="44245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2" name="Овал 31">
              <a:extLst>
                <a:ext uri="{FF2B5EF4-FFF2-40B4-BE49-F238E27FC236}">
                  <a16:creationId xmlns:a16="http://schemas.microsoft.com/office/drawing/2014/main" id="{215DF502-1E52-047B-A6BC-8D01E84A33D1}"/>
                </a:ext>
              </a:extLst>
            </p:cNvPr>
            <p:cNvSpPr/>
            <p:nvPr/>
          </p:nvSpPr>
          <p:spPr>
            <a:xfrm>
              <a:off x="4712481" y="1478453"/>
              <a:ext cx="442451" cy="44245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3" name="Овал 32">
              <a:extLst>
                <a:ext uri="{FF2B5EF4-FFF2-40B4-BE49-F238E27FC236}">
                  <a16:creationId xmlns:a16="http://schemas.microsoft.com/office/drawing/2014/main" id="{7929A6B7-99DB-B0C5-E05C-7E40A9B3E4E4}"/>
                </a:ext>
              </a:extLst>
            </p:cNvPr>
            <p:cNvSpPr/>
            <p:nvPr/>
          </p:nvSpPr>
          <p:spPr>
            <a:xfrm>
              <a:off x="5183018" y="1036001"/>
              <a:ext cx="442451" cy="44245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4" name="Овал 33">
              <a:extLst>
                <a:ext uri="{FF2B5EF4-FFF2-40B4-BE49-F238E27FC236}">
                  <a16:creationId xmlns:a16="http://schemas.microsoft.com/office/drawing/2014/main" id="{1851C935-EF4D-6519-896C-FDF87F73A9D5}"/>
                </a:ext>
              </a:extLst>
            </p:cNvPr>
            <p:cNvSpPr/>
            <p:nvPr/>
          </p:nvSpPr>
          <p:spPr>
            <a:xfrm>
              <a:off x="5183016" y="1478453"/>
              <a:ext cx="442451" cy="44245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5" name="Овал 34">
              <a:extLst>
                <a:ext uri="{FF2B5EF4-FFF2-40B4-BE49-F238E27FC236}">
                  <a16:creationId xmlns:a16="http://schemas.microsoft.com/office/drawing/2014/main" id="{B2138F01-BA9F-9602-3A7B-86FC15559C36}"/>
                </a:ext>
              </a:extLst>
            </p:cNvPr>
            <p:cNvSpPr/>
            <p:nvPr/>
          </p:nvSpPr>
          <p:spPr>
            <a:xfrm>
              <a:off x="5653548" y="1036001"/>
              <a:ext cx="442451" cy="44245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Овал 35">
              <a:extLst>
                <a:ext uri="{FF2B5EF4-FFF2-40B4-BE49-F238E27FC236}">
                  <a16:creationId xmlns:a16="http://schemas.microsoft.com/office/drawing/2014/main" id="{42812F99-DED4-38AA-FD8C-9445930A0954}"/>
                </a:ext>
              </a:extLst>
            </p:cNvPr>
            <p:cNvSpPr/>
            <p:nvPr/>
          </p:nvSpPr>
          <p:spPr>
            <a:xfrm>
              <a:off x="5653546" y="1478453"/>
              <a:ext cx="442451" cy="44245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id="{93A896FB-E53D-12BB-8F49-581BC218E6DE}"/>
                </a:ext>
              </a:extLst>
            </p:cNvPr>
            <p:cNvSpPr/>
            <p:nvPr/>
          </p:nvSpPr>
          <p:spPr>
            <a:xfrm>
              <a:off x="6096001" y="1478453"/>
              <a:ext cx="442451" cy="442451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sz="4000" dirty="0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id="{B4A45A97-FB1C-007E-A7EF-F292D025A946}"/>
                </a:ext>
              </a:extLst>
            </p:cNvPr>
            <p:cNvSpPr/>
            <p:nvPr/>
          </p:nvSpPr>
          <p:spPr>
            <a:xfrm>
              <a:off x="6096000" y="1036001"/>
              <a:ext cx="442451" cy="44245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sz="4000" dirty="0">
                <a:solidFill>
                  <a:srgbClr val="00B050"/>
                </a:solidFill>
              </a:endParaRPr>
            </a:p>
          </p:txBody>
        </p:sp>
      </p:grpSp>
      <p:sp>
        <p:nvSpPr>
          <p:cNvPr id="39" name="Стрелка: круговая 38">
            <a:extLst>
              <a:ext uri="{FF2B5EF4-FFF2-40B4-BE49-F238E27FC236}">
                <a16:creationId xmlns:a16="http://schemas.microsoft.com/office/drawing/2014/main" id="{4AF8D870-DF29-2ACD-623C-28E9DF5E8210}"/>
              </a:ext>
            </a:extLst>
          </p:cNvPr>
          <p:cNvSpPr/>
          <p:nvPr/>
        </p:nvSpPr>
        <p:spPr>
          <a:xfrm rot="5400000">
            <a:off x="6836935" y="2889531"/>
            <a:ext cx="1102250" cy="1439913"/>
          </a:xfrm>
          <a:prstGeom prst="circularArrow">
            <a:avLst>
              <a:gd name="adj1" fmla="val 12500"/>
              <a:gd name="adj2" fmla="val 826727"/>
              <a:gd name="adj3" fmla="val 20457681"/>
              <a:gd name="adj4" fmla="val 3776427"/>
              <a:gd name="adj5" fmla="val 12500"/>
            </a:avLst>
          </a:prstGeom>
          <a:solidFill>
            <a:srgbClr val="FFFF0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40" name="Овал 39">
            <a:extLst>
              <a:ext uri="{FF2B5EF4-FFF2-40B4-BE49-F238E27FC236}">
                <a16:creationId xmlns:a16="http://schemas.microsoft.com/office/drawing/2014/main" id="{986F2BD5-B0FF-A4FF-1AED-A2115051C2F0}"/>
              </a:ext>
            </a:extLst>
          </p:cNvPr>
          <p:cNvSpPr/>
          <p:nvPr/>
        </p:nvSpPr>
        <p:spPr>
          <a:xfrm>
            <a:off x="290757" y="3164416"/>
            <a:ext cx="442451" cy="442451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87734AE-4318-21C7-4B94-EF9F62371EF5}"/>
              </a:ext>
            </a:extLst>
          </p:cNvPr>
          <p:cNvSpPr txBox="1"/>
          <p:nvPr/>
        </p:nvSpPr>
        <p:spPr>
          <a:xfrm>
            <a:off x="792122" y="3237535"/>
            <a:ext cx="2330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Украденная задача</a:t>
            </a:r>
          </a:p>
        </p:txBody>
      </p:sp>
      <p:sp>
        <p:nvSpPr>
          <p:cNvPr id="42" name="Стрелка: круговая 41">
            <a:extLst>
              <a:ext uri="{FF2B5EF4-FFF2-40B4-BE49-F238E27FC236}">
                <a16:creationId xmlns:a16="http://schemas.microsoft.com/office/drawing/2014/main" id="{8491FE1B-2174-D5A5-ED22-8BDFC1F33508}"/>
              </a:ext>
            </a:extLst>
          </p:cNvPr>
          <p:cNvSpPr/>
          <p:nvPr/>
        </p:nvSpPr>
        <p:spPr>
          <a:xfrm rot="5400000">
            <a:off x="291707" y="4591175"/>
            <a:ext cx="680643" cy="683228"/>
          </a:xfrm>
          <a:prstGeom prst="circularArrow">
            <a:avLst>
              <a:gd name="adj1" fmla="val 12500"/>
              <a:gd name="adj2" fmla="val 826727"/>
              <a:gd name="adj3" fmla="val 20457681"/>
              <a:gd name="adj4" fmla="val 3776427"/>
              <a:gd name="adj5" fmla="val 12500"/>
            </a:avLst>
          </a:prstGeom>
          <a:solidFill>
            <a:srgbClr val="FFFF0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E053948-FDDC-633C-82BB-37C59C82953C}"/>
              </a:ext>
            </a:extLst>
          </p:cNvPr>
          <p:cNvSpPr txBox="1"/>
          <p:nvPr/>
        </p:nvSpPr>
        <p:spPr>
          <a:xfrm>
            <a:off x="957058" y="4617301"/>
            <a:ext cx="2700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Направление обхода</a:t>
            </a:r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416E69B7-2957-2B43-8237-7D13889A6349}"/>
              </a:ext>
            </a:extLst>
          </p:cNvPr>
          <p:cNvSpPr/>
          <p:nvPr/>
        </p:nvSpPr>
        <p:spPr>
          <a:xfrm>
            <a:off x="290414" y="1790168"/>
            <a:ext cx="1102472" cy="44245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BF1F2EF-13DA-C049-6F59-D44F345A9BEC}"/>
              </a:ext>
            </a:extLst>
          </p:cNvPr>
          <p:cNvSpPr txBox="1"/>
          <p:nvPr/>
        </p:nvSpPr>
        <p:spPr>
          <a:xfrm>
            <a:off x="1554229" y="1796303"/>
            <a:ext cx="2330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Пул задач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F135E75-DB50-B27B-602D-DA0158EBF49E}"/>
              </a:ext>
            </a:extLst>
          </p:cNvPr>
          <p:cNvSpPr/>
          <p:nvPr/>
        </p:nvSpPr>
        <p:spPr>
          <a:xfrm>
            <a:off x="6588456" y="4457526"/>
            <a:ext cx="1825970" cy="88490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2B41ED9F-D19B-AFB7-7058-A027DE49CD69}"/>
              </a:ext>
            </a:extLst>
          </p:cNvPr>
          <p:cNvSpPr/>
          <p:nvPr/>
        </p:nvSpPr>
        <p:spPr>
          <a:xfrm>
            <a:off x="6588456" y="4899977"/>
            <a:ext cx="442451" cy="44245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9E6A097A-2A67-B132-3243-4347418E3BB3}"/>
              </a:ext>
            </a:extLst>
          </p:cNvPr>
          <p:cNvSpPr/>
          <p:nvPr/>
        </p:nvSpPr>
        <p:spPr>
          <a:xfrm>
            <a:off x="7058993" y="4457525"/>
            <a:ext cx="442451" cy="44245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E8567516-F8A9-867F-19DC-EBFC3A815F6E}"/>
              </a:ext>
            </a:extLst>
          </p:cNvPr>
          <p:cNvSpPr/>
          <p:nvPr/>
        </p:nvSpPr>
        <p:spPr>
          <a:xfrm>
            <a:off x="7058991" y="4899977"/>
            <a:ext cx="442451" cy="44245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160C3F6B-F2A6-E4ED-07C7-330C1FB799D1}"/>
              </a:ext>
            </a:extLst>
          </p:cNvPr>
          <p:cNvSpPr/>
          <p:nvPr/>
        </p:nvSpPr>
        <p:spPr>
          <a:xfrm>
            <a:off x="7529521" y="4899977"/>
            <a:ext cx="442451" cy="44245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B10B27D3-6A32-5087-B648-0C77BF5CA5DA}"/>
              </a:ext>
            </a:extLst>
          </p:cNvPr>
          <p:cNvSpPr/>
          <p:nvPr/>
        </p:nvSpPr>
        <p:spPr>
          <a:xfrm>
            <a:off x="7971976" y="4899977"/>
            <a:ext cx="442451" cy="442451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40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3117422F-A6E9-F166-8D55-B2C87B662FD8}"/>
              </a:ext>
            </a:extLst>
          </p:cNvPr>
          <p:cNvSpPr/>
          <p:nvPr/>
        </p:nvSpPr>
        <p:spPr>
          <a:xfrm>
            <a:off x="7971975" y="4457525"/>
            <a:ext cx="442451" cy="442451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4000" dirty="0">
              <a:solidFill>
                <a:srgbClr val="00B050"/>
              </a:solidFill>
            </a:endParaRPr>
          </a:p>
        </p:txBody>
      </p:sp>
      <p:sp>
        <p:nvSpPr>
          <p:cNvPr id="49" name="Овал 48">
            <a:extLst>
              <a:ext uri="{FF2B5EF4-FFF2-40B4-BE49-F238E27FC236}">
                <a16:creationId xmlns:a16="http://schemas.microsoft.com/office/drawing/2014/main" id="{EAA20E46-14A6-C81D-4777-40C3AEA1A5C7}"/>
              </a:ext>
            </a:extLst>
          </p:cNvPr>
          <p:cNvSpPr/>
          <p:nvPr/>
        </p:nvSpPr>
        <p:spPr>
          <a:xfrm>
            <a:off x="9106531" y="3413621"/>
            <a:ext cx="442451" cy="442451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2A29FA43-490F-BC17-10DC-64D02319DAED}"/>
              </a:ext>
            </a:extLst>
          </p:cNvPr>
          <p:cNvCxnSpPr>
            <a:cxnSpLocks/>
            <a:endCxn id="49" idx="2"/>
          </p:cNvCxnSpPr>
          <p:nvPr/>
        </p:nvCxnSpPr>
        <p:spPr>
          <a:xfrm flipV="1">
            <a:off x="6809681" y="3634847"/>
            <a:ext cx="2296850" cy="1043903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8845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4A96D-10CE-22F3-ED13-3FCF2F43F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FA87CA9-4B69-91FC-29CA-D827C4168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7CC-CB90-4A98-9AE2-791F6193C32F}" type="slidenum">
              <a:rPr lang="ru-RU" smtClean="0"/>
              <a:t>14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C5DB37-E344-815E-DE9A-3C67646216A5}"/>
              </a:ext>
            </a:extLst>
          </p:cNvPr>
          <p:cNvSpPr txBox="1"/>
          <p:nvPr/>
        </p:nvSpPr>
        <p:spPr>
          <a:xfrm>
            <a:off x="341643" y="160774"/>
            <a:ext cx="75764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</a:rPr>
              <a:t>Планировщик. Результаты тестов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D6F39D-F9C7-CF93-089F-C71ECCA832C9}"/>
              </a:ext>
            </a:extLst>
          </p:cNvPr>
          <p:cNvSpPr txBox="1"/>
          <p:nvPr/>
        </p:nvSpPr>
        <p:spPr>
          <a:xfrm>
            <a:off x="341643" y="1245997"/>
            <a:ext cx="11113477" cy="3363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2400" dirty="0"/>
              <a:t>Здесь появятся результаты запуска тестов </a:t>
            </a:r>
            <a:r>
              <a:rPr lang="en-US" sz="2400" b="1" dirty="0"/>
              <a:t>NPB-MZ</a:t>
            </a:r>
            <a:r>
              <a:rPr lang="en-US" sz="2400" dirty="0"/>
              <a:t>;</a:t>
            </a:r>
            <a:endParaRPr lang="ru-RU" sz="24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2400" dirty="0"/>
              <a:t>Здесь появится сравнение различных конфигураций: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2400" dirty="0"/>
              <a:t>Последовательная</a:t>
            </a:r>
            <a:r>
              <a:rPr lang="en-US" sz="2400" dirty="0"/>
              <a:t>;</a:t>
            </a:r>
            <a:endParaRPr lang="ru-RU" sz="2400" dirty="0"/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/>
              <a:t>OpenMP;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 err="1"/>
              <a:t>Argobots</a:t>
            </a:r>
            <a:r>
              <a:rPr lang="en-US" sz="2400" dirty="0"/>
              <a:t>, </a:t>
            </a:r>
            <a:r>
              <a:rPr lang="ru-RU" sz="2400" dirty="0"/>
              <a:t>стандартный планировщик</a:t>
            </a:r>
            <a:r>
              <a:rPr lang="en-US" sz="2400" dirty="0"/>
              <a:t>;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 err="1"/>
              <a:t>Argobots</a:t>
            </a:r>
            <a:r>
              <a:rPr lang="en-US" sz="2400" dirty="0"/>
              <a:t>, </a:t>
            </a:r>
            <a:r>
              <a:rPr lang="ru-RU" sz="2400" dirty="0"/>
              <a:t>написанный</a:t>
            </a:r>
            <a:r>
              <a:rPr lang="en-US" sz="2400" dirty="0"/>
              <a:t> </a:t>
            </a:r>
            <a:r>
              <a:rPr lang="ru-RU" sz="2400" dirty="0"/>
              <a:t>планировщик с кражей задач</a:t>
            </a:r>
            <a:r>
              <a:rPr lang="en-US" sz="2400" dirty="0"/>
              <a:t>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1832771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CEEAD-4AA6-66B9-24DC-709503A54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325E835-35BD-AA11-60BD-B3F6832C1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7CC-CB90-4A98-9AE2-791F6193C32F}" type="slidenum">
              <a:rPr lang="ru-RU" smtClean="0"/>
              <a:t>15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2317F4-E8C4-3B60-A734-2F5E2DBC1C78}"/>
              </a:ext>
            </a:extLst>
          </p:cNvPr>
          <p:cNvSpPr txBox="1"/>
          <p:nvPr/>
        </p:nvSpPr>
        <p:spPr>
          <a:xfrm>
            <a:off x="341643" y="160774"/>
            <a:ext cx="75764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</a:rPr>
              <a:t>Планировщик. Результаты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BB51CE-A4D8-A539-BD3E-7E5211165571}"/>
              </a:ext>
            </a:extLst>
          </p:cNvPr>
          <p:cNvSpPr txBox="1"/>
          <p:nvPr/>
        </p:nvSpPr>
        <p:spPr>
          <a:xfrm>
            <a:off x="341643" y="1245997"/>
            <a:ext cx="11113477" cy="1701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2400" dirty="0"/>
              <a:t>С использованием </a:t>
            </a:r>
            <a:r>
              <a:rPr lang="en-US" sz="2400" dirty="0" err="1"/>
              <a:t>Argobots</a:t>
            </a:r>
            <a:r>
              <a:rPr lang="en-US" sz="2400" dirty="0"/>
              <a:t> </a:t>
            </a:r>
            <a:r>
              <a:rPr lang="ru-RU" sz="2400" dirty="0"/>
              <a:t>разработан и </a:t>
            </a:r>
            <a:r>
              <a:rPr lang="ru-RU" sz="2400" dirty="0" err="1"/>
              <a:t>программно</a:t>
            </a:r>
            <a:r>
              <a:rPr lang="ru-RU" sz="2400" dirty="0"/>
              <a:t> реализован алгоритм планировщика с кражей задач (</a:t>
            </a:r>
            <a:r>
              <a:rPr lang="en-US" sz="2400" dirty="0"/>
              <a:t>work stealing scheduler);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2400" dirty="0"/>
              <a:t>Здесь будут результаты по итогам запуска тестов</a:t>
            </a:r>
            <a:r>
              <a:rPr lang="en-US" sz="2400" dirty="0"/>
              <a:t> </a:t>
            </a:r>
            <a:r>
              <a:rPr lang="en-US" sz="2400" b="1" dirty="0"/>
              <a:t>NPB-MZ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707702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C821D-24E4-50A0-30BC-952CFEEAD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479BDEB-1037-8CF7-731A-22FBCEC4A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7CC-CB90-4A98-9AE2-791F6193C32F}" type="slidenum">
              <a:rPr lang="ru-RU" smtClean="0"/>
              <a:t>16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DA9771-B93D-5799-C4F7-FD235C6A87C4}"/>
              </a:ext>
            </a:extLst>
          </p:cNvPr>
          <p:cNvSpPr txBox="1"/>
          <p:nvPr/>
        </p:nvSpPr>
        <p:spPr>
          <a:xfrm>
            <a:off x="341643" y="160774"/>
            <a:ext cx="75764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</a:rPr>
              <a:t>Результаты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25F882-0335-8AAD-D1B3-25A432E1A063}"/>
              </a:ext>
            </a:extLst>
          </p:cNvPr>
          <p:cNvSpPr txBox="1"/>
          <p:nvPr/>
        </p:nvSpPr>
        <p:spPr>
          <a:xfrm>
            <a:off x="341643" y="1245997"/>
            <a:ext cx="11113477" cy="502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2400" dirty="0"/>
              <a:t>Реализована операция редукции (наивный метод и метод сдваивания) в библиотеке </a:t>
            </a:r>
            <a:r>
              <a:rPr lang="en-US" sz="2400" dirty="0" err="1"/>
              <a:t>Argobots</a:t>
            </a:r>
            <a:r>
              <a:rPr lang="en-US" sz="2400" dirty="0"/>
              <a:t>; </a:t>
            </a:r>
            <a:r>
              <a:rPr lang="ru-RU" sz="2400" dirty="0"/>
              <a:t>метод сдваивания быстрее на </a:t>
            </a:r>
            <a:r>
              <a:rPr lang="en-US" sz="2400" dirty="0"/>
              <a:t>~</a:t>
            </a:r>
            <a:r>
              <a:rPr lang="en-US" sz="2400" b="1" dirty="0"/>
              <a:t>30%</a:t>
            </a:r>
            <a:r>
              <a:rPr lang="en-US" sz="2400" dirty="0"/>
              <a:t>;</a:t>
            </a:r>
            <a:endParaRPr lang="ru-RU" sz="24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2400" dirty="0"/>
              <a:t>Реализован планировщик с кражей задач в </a:t>
            </a:r>
            <a:r>
              <a:rPr lang="en-US" sz="2400" dirty="0" err="1"/>
              <a:t>Argobots</a:t>
            </a:r>
            <a:r>
              <a:rPr lang="en-US" sz="2400" dirty="0"/>
              <a:t>;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2400" dirty="0"/>
              <a:t>Написаны тесты </a:t>
            </a:r>
            <a:r>
              <a:rPr lang="en-US" sz="2400" b="1" dirty="0"/>
              <a:t>jac3d</a:t>
            </a:r>
            <a:r>
              <a:rPr lang="en-US" sz="2400" dirty="0"/>
              <a:t>, </a:t>
            </a:r>
            <a:r>
              <a:rPr lang="en-US" sz="2400" b="1" dirty="0"/>
              <a:t>NAS CG</a:t>
            </a:r>
            <a:r>
              <a:rPr lang="ru-RU" sz="2400" b="1" dirty="0"/>
              <a:t> </a:t>
            </a:r>
            <a:r>
              <a:rPr lang="ru-RU" sz="2400" dirty="0"/>
              <a:t>с использованием библиотеки </a:t>
            </a:r>
            <a:r>
              <a:rPr lang="en-US" sz="2400" dirty="0" err="1"/>
              <a:t>Argobots</a:t>
            </a:r>
            <a:r>
              <a:rPr lang="en-US" sz="2400" dirty="0"/>
              <a:t>;</a:t>
            </a:r>
            <a:endParaRPr lang="ru-RU" sz="24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2400" dirty="0"/>
              <a:t>Проанализированы результаты запуска тестов</a:t>
            </a:r>
            <a:r>
              <a:rPr lang="en-US" sz="2400" dirty="0"/>
              <a:t>. </a:t>
            </a:r>
            <a:r>
              <a:rPr lang="ru-RU" sz="2400" dirty="0"/>
              <a:t>На 4 ядрах достигается ускорение </a:t>
            </a:r>
            <a:r>
              <a:rPr lang="en-US" sz="2400" dirty="0"/>
              <a:t>~</a:t>
            </a:r>
            <a:r>
              <a:rPr lang="en-US" sz="2400" b="1" dirty="0"/>
              <a:t>3.5 </a:t>
            </a:r>
            <a:r>
              <a:rPr lang="ru-RU" sz="2400" dirty="0"/>
              <a:t>раза.</a:t>
            </a:r>
          </a:p>
          <a:p>
            <a:pPr>
              <a:lnSpc>
                <a:spcPct val="150000"/>
              </a:lnSpc>
            </a:pPr>
            <a:r>
              <a:rPr lang="ru-RU" sz="2400" b="1" dirty="0"/>
              <a:t>Полученная реализация редукции и планировщика позволяет использовать библиотеку </a:t>
            </a:r>
            <a:r>
              <a:rPr lang="en-US" sz="2400" b="1" dirty="0" err="1"/>
              <a:t>Argobots</a:t>
            </a:r>
            <a:r>
              <a:rPr lang="en-US" sz="2400" b="1" dirty="0"/>
              <a:t> </a:t>
            </a:r>
            <a:r>
              <a:rPr lang="ru-RU" sz="2400" b="1" dirty="0"/>
              <a:t>для автоматизации разработки параллельных программ.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7467952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0DCF2-5B81-7421-7A1F-0EC52080F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04B7BB0-43D8-4A24-8BF7-0BD3E6918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7CC-CB90-4A98-9AE2-791F6193C32F}" type="slidenum">
              <a:rPr lang="ru-RU" smtClean="0"/>
              <a:t>17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BA85B9-FB7B-324B-D7C4-B3788FA1F41F}"/>
              </a:ext>
            </a:extLst>
          </p:cNvPr>
          <p:cNvSpPr txBox="1"/>
          <p:nvPr/>
        </p:nvSpPr>
        <p:spPr>
          <a:xfrm>
            <a:off x="341642" y="160774"/>
            <a:ext cx="113646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</a:rPr>
              <a:t>Дальнейшие планы (слайд для весеннего отчёта)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B59163-EBA6-EB73-9C1F-15D765B8DE4F}"/>
              </a:ext>
            </a:extLst>
          </p:cNvPr>
          <p:cNvSpPr txBox="1"/>
          <p:nvPr/>
        </p:nvSpPr>
        <p:spPr>
          <a:xfrm>
            <a:off x="341643" y="1245997"/>
            <a:ext cx="11113477" cy="502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2400" dirty="0"/>
              <a:t>Реализовать тест </a:t>
            </a:r>
            <a:r>
              <a:rPr lang="en-US" sz="2400" b="1" dirty="0"/>
              <a:t>NPB-MZ</a:t>
            </a:r>
            <a:r>
              <a:rPr lang="ru-RU" sz="2400" b="1" dirty="0"/>
              <a:t> </a:t>
            </a:r>
            <a:r>
              <a:rPr lang="ru-RU" sz="2400" dirty="0"/>
              <a:t>с использованием написанного в </a:t>
            </a:r>
            <a:r>
              <a:rPr lang="en-US" sz="2400" dirty="0" err="1"/>
              <a:t>Argobots</a:t>
            </a:r>
            <a:r>
              <a:rPr lang="en-US" sz="2400" dirty="0"/>
              <a:t> </a:t>
            </a:r>
            <a:r>
              <a:rPr lang="ru-RU" sz="2400" dirty="0"/>
              <a:t>планировщика</a:t>
            </a:r>
            <a:r>
              <a:rPr lang="en-US" sz="2400" dirty="0"/>
              <a:t>;</a:t>
            </a:r>
            <a:endParaRPr lang="ru-RU" sz="24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2400" dirty="0"/>
              <a:t>Сравнить результаты работы теста </a:t>
            </a:r>
            <a:r>
              <a:rPr lang="en-US" sz="2400" b="1" dirty="0"/>
              <a:t>NPB-MZ</a:t>
            </a:r>
            <a:r>
              <a:rPr lang="en-US" sz="2400" dirty="0"/>
              <a:t>: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2400" dirty="0"/>
              <a:t>Последовательная реализация</a:t>
            </a:r>
            <a:r>
              <a:rPr lang="en-US" sz="2400" dirty="0"/>
              <a:t>;</a:t>
            </a:r>
            <a:endParaRPr lang="ru-RU" sz="2400" dirty="0"/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/>
              <a:t>OpenMP;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 err="1"/>
              <a:t>Argobots</a:t>
            </a:r>
            <a:r>
              <a:rPr lang="en-US" sz="2400" dirty="0"/>
              <a:t>, </a:t>
            </a:r>
            <a:r>
              <a:rPr lang="ru-RU" sz="2400" dirty="0"/>
              <a:t>стандартный планировщик</a:t>
            </a:r>
            <a:r>
              <a:rPr lang="en-US" sz="2400" dirty="0"/>
              <a:t>;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 err="1"/>
              <a:t>Argobots</a:t>
            </a:r>
            <a:r>
              <a:rPr lang="en-US" sz="2400" dirty="0"/>
              <a:t>, </a:t>
            </a:r>
            <a:r>
              <a:rPr lang="ru-RU" sz="2400" dirty="0"/>
              <a:t>самописный планировщик</a:t>
            </a:r>
            <a:r>
              <a:rPr lang="en-US" sz="2400" dirty="0"/>
              <a:t> </a:t>
            </a:r>
            <a:r>
              <a:rPr lang="ru-RU" sz="2400" dirty="0"/>
              <a:t>с кражей задач</a:t>
            </a:r>
            <a:r>
              <a:rPr lang="en-US" sz="2400" dirty="0"/>
              <a:t>;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2400" dirty="0"/>
              <a:t>Написать текст ВКР</a:t>
            </a:r>
            <a:r>
              <a:rPr lang="en-US" sz="2400" dirty="0"/>
              <a:t>;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2400" dirty="0"/>
              <a:t>Обновить презентацию.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7724270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Argobots Reduction</Template>
  <TotalTime>1306</TotalTime>
  <Words>628</Words>
  <Application>Microsoft Office PowerPoint</Application>
  <PresentationFormat>Широкоэкранный</PresentationFormat>
  <Paragraphs>164</Paragraphs>
  <Slides>17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Helvetica Neue</vt:lpstr>
      <vt:lpstr>Тема Office</vt:lpstr>
      <vt:lpstr>Автоматизация разработки параллельных программ с помощью библиотеки легковесных нитей пользовательского уровня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Рябыкин Владислав</dc:creator>
  <cp:lastModifiedBy>Рябыкин Владислав</cp:lastModifiedBy>
  <cp:revision>47</cp:revision>
  <dcterms:created xsi:type="dcterms:W3CDTF">2024-12-26T04:54:07Z</dcterms:created>
  <dcterms:modified xsi:type="dcterms:W3CDTF">2025-04-08T10:59:33Z</dcterms:modified>
</cp:coreProperties>
</file>