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76" r:id="rId3"/>
    <p:sldId id="277" r:id="rId4"/>
    <p:sldId id="278" r:id="rId5"/>
    <p:sldId id="279" r:id="rId6"/>
    <p:sldId id="280" r:id="rId7"/>
    <p:sldId id="286" r:id="rId8"/>
    <p:sldId id="287" r:id="rId9"/>
    <p:sldId id="284" r:id="rId10"/>
    <p:sldId id="28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yaby\Documents\OpenMP%20value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yaby\Documents\Argobots%20valu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Класс</a:t>
            </a:r>
            <a:r>
              <a:rPr lang="ru-RU" baseline="0" dirty="0"/>
              <a:t> </a:t>
            </a:r>
            <a:r>
              <a:rPr lang="en-US" baseline="0" dirty="0"/>
              <a:t>B. </a:t>
            </a:r>
            <a:r>
              <a:rPr lang="ru-RU" baseline="0" dirty="0"/>
              <a:t>Зависимость времени выполнения (с) от числа нитей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2035404798656402E-2"/>
          <c:y val="0.26667522957524542"/>
          <c:w val="0.88334186479532284"/>
          <c:h val="0.65168074874829551"/>
        </c:manualLayout>
      </c:layout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Лист1!$F$1:$M$1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cat>
          <c:val>
            <c:numRef>
              <c:f>Лист1!$F$7:$M$7</c:f>
              <c:numCache>
                <c:formatCode>0.00</c:formatCode>
                <c:ptCount val="8"/>
                <c:pt idx="0">
                  <c:v>42.29</c:v>
                </c:pt>
                <c:pt idx="1">
                  <c:v>22.55</c:v>
                </c:pt>
                <c:pt idx="2">
                  <c:v>12.13</c:v>
                </c:pt>
                <c:pt idx="3">
                  <c:v>9.91</c:v>
                </c:pt>
                <c:pt idx="4">
                  <c:v>9.31</c:v>
                </c:pt>
                <c:pt idx="5">
                  <c:v>9.98</c:v>
                </c:pt>
                <c:pt idx="6">
                  <c:v>11.18</c:v>
                </c:pt>
                <c:pt idx="7">
                  <c:v>13.14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EC-4CD1-BA8D-EA00554DFA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3938431"/>
        <c:axId val="1213938911"/>
      </c:lineChart>
      <c:catAx>
        <c:axId val="121393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911"/>
        <c:crosses val="autoZero"/>
        <c:auto val="1"/>
        <c:lblAlgn val="ctr"/>
        <c:lblOffset val="100"/>
        <c:noMultiLvlLbl val="0"/>
      </c:catAx>
      <c:valAx>
        <c:axId val="12139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13938431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Класс </a:t>
            </a:r>
            <a:r>
              <a:rPr lang="en-US"/>
              <a:t>B. </a:t>
            </a:r>
            <a:r>
              <a:rPr lang="ru-RU"/>
              <a:t>Зависимость</a:t>
            </a:r>
            <a:r>
              <a:rPr lang="ru-RU" baseline="0"/>
              <a:t> минимального времени работы (кроме 1 треда), времени работы 1 треда, максимального времени работы (кроме 1 треда) от значения </a:t>
            </a:r>
            <a:r>
              <a:rPr lang="en-US" baseline="0"/>
              <a:t>xstreams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min время (кроме 1 треда)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'[Argobots values.xlsx]Лист1'!$E$2:$E$5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numCache>
              <c:extLst/>
            </c:numRef>
          </c:cat>
          <c:val>
            <c:numRef>
              <c:f>'[Argobots values.xlsx]Лист1'!$O$10:$O$14</c:f>
              <c:numCache>
                <c:formatCode>0.00</c:formatCode>
                <c:ptCount val="4"/>
                <c:pt idx="0">
                  <c:v>45.05</c:v>
                </c:pt>
                <c:pt idx="1">
                  <c:v>44.96</c:v>
                </c:pt>
                <c:pt idx="2">
                  <c:v>45.58</c:v>
                </c:pt>
                <c:pt idx="3">
                  <c:v>54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0358-4B5B-A056-66E0901BAD51}"/>
            </c:ext>
          </c:extLst>
        </c:ser>
        <c:ser>
          <c:idx val="1"/>
          <c:order val="1"/>
          <c:tx>
            <c:v>Время 1 тред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'[Argobots values.xlsx]Лист1'!$E$2:$E$5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numCache>
              <c:extLst/>
            </c:numRef>
          </c:cat>
          <c:val>
            <c:numRef>
              <c:f>'[Argobots values.xlsx]Лист1'!$F$10:$F$14</c:f>
              <c:numCache>
                <c:formatCode>0.00</c:formatCode>
                <c:ptCount val="4"/>
                <c:pt idx="0">
                  <c:v>44.56</c:v>
                </c:pt>
                <c:pt idx="1">
                  <c:v>45.78</c:v>
                </c:pt>
                <c:pt idx="2" formatCode="General">
                  <c:v>46.91</c:v>
                </c:pt>
                <c:pt idx="3" formatCode="General">
                  <c:v>55.38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0358-4B5B-A056-66E0901BAD51}"/>
            </c:ext>
          </c:extLst>
        </c:ser>
        <c:ser>
          <c:idx val="2"/>
          <c:order val="2"/>
          <c:tx>
            <c:v>max время (кроме 1 треда)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'[Argobots values.xlsx]Лист1'!$E$2:$E$5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numCache>
              <c:extLst/>
            </c:numRef>
          </c:cat>
          <c:val>
            <c:numRef>
              <c:f>'[Argobots values.xlsx]Лист1'!$Q$10:$Q$14</c:f>
              <c:numCache>
                <c:formatCode>0.00</c:formatCode>
                <c:ptCount val="4"/>
                <c:pt idx="0">
                  <c:v>46.69</c:v>
                </c:pt>
                <c:pt idx="1">
                  <c:v>46.29</c:v>
                </c:pt>
                <c:pt idx="2">
                  <c:v>47.1</c:v>
                </c:pt>
                <c:pt idx="3">
                  <c:v>55.48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0358-4B5B-A056-66E0901BAD5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60732288"/>
        <c:axId val="1460729408"/>
      </c:barChart>
      <c:catAx>
        <c:axId val="14607322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Значение</a:t>
                </a:r>
                <a:r>
                  <a:rPr lang="ru-RU" baseline="0"/>
                  <a:t> </a:t>
                </a:r>
                <a:r>
                  <a:rPr lang="en-US" baseline="0"/>
                  <a:t>xstreams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60729408"/>
        <c:crosses val="autoZero"/>
        <c:auto val="1"/>
        <c:lblAlgn val="ctr"/>
        <c:lblOffset val="100"/>
        <c:noMultiLvlLbl val="0"/>
      </c:catAx>
      <c:valAx>
        <c:axId val="1460729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</a:t>
                </a:r>
                <a:r>
                  <a:rPr lang="ru-RU" baseline="0"/>
                  <a:t> работы теста (с)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60732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C2D0F-FA49-46B2-A7D8-0BD019907A2A}" type="datetimeFigureOut">
              <a:rPr lang="ru-RU" smtClean="0"/>
              <a:t>26.12.2024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A8AAF-6B13-4F44-BDB2-1D2B1FD32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72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A8AAF-6B13-4F44-BDB2-1D2B1FD321E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258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A8AAF-6B13-4F44-BDB2-1D2B1FD321E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870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A8AAF-6B13-4F44-BDB2-1D2B1FD321E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084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3581DD-7E4D-8092-16FE-D15B40D87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D749324-2811-03B5-8178-047458726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DC53D7-941A-6964-9394-DAA6D369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FA6B7-0FE0-41FC-B940-20AFA1B1F3B3}" type="datetime1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378698-73B9-ED9C-DB50-B42D1875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C4CC4D-C612-9F1F-FE69-6874C027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04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FDDC6-7357-A3C5-683F-96FB1349C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B79CD2-E9EC-E5DF-0070-D094D3FDD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783818-4713-4281-0748-F22355E26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2D51-EDF0-4164-BC9D-534339A6EF92}" type="datetime1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856FFB-EDE2-428C-13BD-6EA7C6CD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41ED08-455A-FFF5-17A1-DCD61D0DC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25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148A7-A6D7-5F22-D435-5A19060F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325430-457C-4105-A19B-919511CA6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F850A-539E-AEE3-989E-EC50EBBC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60E66-68ED-4A4A-A24C-84B06D20722F}" type="datetime1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D38FAF-CA8A-53C4-00EA-DE1F339A2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8FCB4F-6AC2-0D1C-5DEA-47AF61B1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58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FC71D-44FF-7ABB-3692-42755577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58AEA7-1EC0-94CC-0C7D-ECB2757131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521ED4-77BA-0908-4062-7E2402B1B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40B06A-A34A-3AB7-60D0-FD5A83DCF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5392-D4E7-41F1-984A-32996EB868F8}" type="datetime1">
              <a:rPr lang="ru-RU" smtClean="0"/>
              <a:t>26.12.2024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756B9A-02D6-DAAC-5FEC-5B8180CC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282A07-BA5C-D763-8BE0-A4279109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38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2AA12-E4AD-E84A-B40C-5D06D9A1F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B6E1C2-815B-F13E-E3CD-8DBBAF0E0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55C5CD-AF45-ED37-8316-1E88FC63A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4170342-7FBC-DADA-35C5-A0516D22B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01EE68-A831-B4A3-F425-1D4E655B3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0663A5-B377-E028-47F7-744E4835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4D6F-6FE6-4D10-96D6-810A2D7A2338}" type="datetime1">
              <a:rPr lang="ru-RU" smtClean="0"/>
              <a:t>26.12.2024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7022E9-5FBD-7A2C-6E25-09EA567CB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3DABE11-935A-E930-6DA8-9A74A226D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899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9C401-10CB-24DB-3A30-4DEFE5ED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7D9600-47FB-6DBF-9990-B14ADEC56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B162-CD1E-4379-B744-419C51B6572A}" type="datetime1">
              <a:rPr lang="ru-RU" smtClean="0"/>
              <a:t>26.12.2024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8CA0D7-B6F8-EEBA-760C-D9CEDA36B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A881AC-D824-0EAB-A59C-104C5CC0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77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454BA08-0DBB-C818-F0D3-570678DF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B6B1-25CA-4779-A542-11992C7421E6}" type="datetime1">
              <a:rPr lang="ru-RU" smtClean="0"/>
              <a:t>26.12.2024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225B62-6199-33F4-51F8-2C29532D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95910C-9457-4407-60A3-9F5B9225E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68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6FE55-71C2-A6F6-192F-5E96B47C3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3C3DD8-38FF-E184-9B56-41B56BE01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E7F3F3-1C03-5270-ADAB-7C3C029B1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2B236D-B71F-E4F3-5315-0B3B3DCB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2CD4-417F-4E3B-A726-891AA0D00591}" type="datetime1">
              <a:rPr lang="ru-RU" smtClean="0"/>
              <a:t>26.12.2024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5F91B8-C1CD-0290-5323-5109EA01C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7F1551-D5A0-796F-0D74-088F6F9A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13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5D416-81B6-D098-E8CD-DCE7F30BD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9D0D43-0B64-FCAF-3D80-9AB67862C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344692-C836-2002-9653-91942B458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CC0282-4DD2-4B04-C175-51944302D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87DA8-AA0E-4D64-A0D5-386395B502D3}" type="datetime1">
              <a:rPr lang="ru-RU" smtClean="0"/>
              <a:t>26.12.2024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614F2B-4926-790E-C637-5579F17F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668478-2F73-3014-CE12-784E18EE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07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4D57D-CA5A-3D62-AF2B-E52E9491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BA3280-3B3B-E171-76B3-7A42B0B5C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1C718C-EBB4-FE2A-BF28-1EF492AE4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5BA01-2769-4A36-A4D1-930A1AD6E3EA}" type="datetime1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573D1E-0EE1-6A99-68E7-15C72BCF9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167BBA-9BCE-E19D-00C5-A865F35A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60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3ADBA15-A8AF-2A36-8304-55EC56DD0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ACE381-F480-9BDF-174A-0FD3156DB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21291B-CDAF-C1A9-4BBC-0FAE1D68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B43B0-B137-46AD-B825-50C36698E66C}" type="datetime1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1248F-6E28-6174-BF7B-AA547B35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BF6AA2-7D91-5F8B-856A-AE011C36F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36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1E26C-85FD-969D-BAEA-3A963A52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F60479-057C-A044-A41B-38ECBBF94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EAF33-78D4-A1AB-E1EF-16508DE6C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DF618-E582-48A0-9D27-9ACD42033384}" type="datetime1">
              <a:rPr lang="ru-RU" smtClean="0"/>
              <a:t>26.12.2024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DB54D7-99A9-24B6-3A9A-D8CBD8C7FB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86AA0F-9554-A1D0-EC5D-5612CEAD6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F67CC-CB90-4A98-9AE2-791F6193C3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46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738B05-E4F1-FEB5-5D15-DD18E5C7C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6137"/>
            <a:ext cx="9144000" cy="2387600"/>
          </a:xfrm>
        </p:spPr>
        <p:txBody>
          <a:bodyPr>
            <a:noAutofit/>
          </a:bodyPr>
          <a:lstStyle/>
          <a:p>
            <a:r>
              <a:rPr lang="ru-RU" sz="3600" dirty="0"/>
              <a:t>Автоматизация разработки параллельных программ с помощью библиотеки легковесных нитей пользовательского уровня</a:t>
            </a:r>
            <a:br>
              <a:rPr lang="ru-RU" sz="3600" dirty="0"/>
            </a:br>
            <a:br>
              <a:rPr lang="ru-RU" sz="3600" dirty="0"/>
            </a:br>
            <a:r>
              <a:rPr lang="ru-RU" sz="2800" dirty="0"/>
              <a:t>Отчёт за осенний семестр 2024 года</a:t>
            </a: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64A1B4-4981-66B2-8B8F-7E5BAA8FA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4861" y="5104322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sz="2000" dirty="0"/>
              <a:t>Рябыкин Владислав Александрович, 427 группа</a:t>
            </a:r>
          </a:p>
          <a:p>
            <a:pPr algn="r"/>
            <a:r>
              <a:rPr lang="ru-RU" sz="2000" b="1" dirty="0"/>
              <a:t>Научный руководитель:</a:t>
            </a:r>
          </a:p>
          <a:p>
            <a:pPr algn="r"/>
            <a:r>
              <a:rPr lang="ru-RU" sz="2000" dirty="0"/>
              <a:t>Катаев Никита Андреевич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8AEE5-27B2-B24D-810A-6FE6C24DEFF8}"/>
              </a:ext>
            </a:extLst>
          </p:cNvPr>
          <p:cNvSpPr txBox="1"/>
          <p:nvPr/>
        </p:nvSpPr>
        <p:spPr>
          <a:xfrm>
            <a:off x="5308765" y="6390752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Москва, 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703BAD-E435-87DB-8E4F-EC9DB3C4C12B}"/>
              </a:ext>
            </a:extLst>
          </p:cNvPr>
          <p:cNvSpPr txBox="1"/>
          <p:nvPr/>
        </p:nvSpPr>
        <p:spPr>
          <a:xfrm>
            <a:off x="2445802" y="97916"/>
            <a:ext cx="7300396" cy="1298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800" dirty="0"/>
              <a:t>Московский государственный университет имени М. В. Ломоносова</a:t>
            </a:r>
            <a:br>
              <a:rPr lang="ru-RU" sz="1800" dirty="0"/>
            </a:br>
            <a:r>
              <a:rPr lang="ru-RU" sz="1800" dirty="0"/>
              <a:t>Факультет вычислительной математики и кибернетики</a:t>
            </a:r>
            <a:br>
              <a:rPr lang="ru-RU" sz="1800" dirty="0"/>
            </a:br>
            <a:r>
              <a:rPr lang="ru-RU" sz="1800" dirty="0"/>
              <a:t>Кафедра системного программирования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1875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60B94B-BDE9-0D9F-CEDE-4A656BC003E9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План работы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063AB-728B-3924-6EDA-FAA66B6B3243}"/>
              </a:ext>
            </a:extLst>
          </p:cNvPr>
          <p:cNvSpPr txBox="1"/>
          <p:nvPr/>
        </p:nvSpPr>
        <p:spPr>
          <a:xfrm>
            <a:off x="341643" y="1245997"/>
            <a:ext cx="11113477" cy="447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Реализовать операцию редукции с использованием </a:t>
            </a:r>
            <a:r>
              <a:rPr lang="en-US" sz="2400" dirty="0" err="1"/>
              <a:t>Argobots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Проверить корректность и эффективность полученной реализации</a:t>
            </a:r>
            <a:r>
              <a:rPr lang="en-US" sz="2400" dirty="0"/>
              <a:t>. </a:t>
            </a:r>
            <a:r>
              <a:rPr lang="ru-RU" sz="2400" dirty="0"/>
              <a:t>Сравнить с аналогами. Добиться увеличения эффективности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Изучить статьи по планировщикам задач (</a:t>
            </a:r>
            <a:r>
              <a:rPr lang="en-US" sz="2400" dirty="0"/>
              <a:t>scheduler)</a:t>
            </a:r>
            <a:r>
              <a:rPr lang="ru-RU" sz="2400" dirty="0"/>
              <a:t> и стратегиям планирования</a:t>
            </a:r>
            <a:r>
              <a:rPr lang="en-US" sz="2400" dirty="0"/>
              <a:t>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Реализовать планировщик задач с использованием </a:t>
            </a:r>
            <a:r>
              <a:rPr lang="en-US" sz="2400" dirty="0" err="1"/>
              <a:t>Argobots</a:t>
            </a:r>
            <a:r>
              <a:rPr lang="en-US" sz="2400" dirty="0"/>
              <a:t>;</a:t>
            </a:r>
            <a:r>
              <a:rPr lang="ru-RU" sz="2400" dirty="0"/>
              <a:t> (2025 год)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Добиться увеличения эффективности программ с использованием полученной реализации. (2025 год)</a:t>
            </a:r>
          </a:p>
        </p:txBody>
      </p:sp>
    </p:spTree>
    <p:extLst>
      <p:ext uri="{BB962C8B-B14F-4D97-AF65-F5344CB8AC3E}">
        <p14:creationId xmlns:p14="http://schemas.microsoft.com/office/powerpoint/2010/main" val="1625090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5E773-39D4-9C1F-F6E1-FFA12006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A8E323-A6BF-0F4E-887C-B45C799EA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63C721-2944-19ED-33DC-5CF3D2F1490E}"/>
              </a:ext>
            </a:extLst>
          </p:cNvPr>
          <p:cNvSpPr txBox="1"/>
          <p:nvPr/>
        </p:nvSpPr>
        <p:spPr>
          <a:xfrm>
            <a:off x="341643" y="160774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Было сделано ранее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EE068-87FB-58BC-ECAF-F97B1C4C51A7}"/>
              </a:ext>
            </a:extLst>
          </p:cNvPr>
          <p:cNvSpPr txBox="1"/>
          <p:nvPr/>
        </p:nvSpPr>
        <p:spPr>
          <a:xfrm>
            <a:off x="341643" y="1245997"/>
            <a:ext cx="11113477" cy="33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Реализована операция редукции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Реализован тест </a:t>
            </a:r>
            <a:r>
              <a:rPr lang="en-US" sz="2400" dirty="0"/>
              <a:t>NAS CG;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Тест завершается корректно</a:t>
            </a:r>
            <a:r>
              <a:rPr lang="en-US" sz="2400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Замерено время работы теста с различными параметрами</a:t>
            </a:r>
            <a:r>
              <a:rPr lang="en-US" sz="2400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Собрана статистика и построены графики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83581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2A66-8AAB-A7E8-9DAB-4F461EEA4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CB378F-9264-EF08-A760-2F8C29CF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4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0DA560-476E-8B17-6D20-63C22E0A875E}"/>
              </a:ext>
            </a:extLst>
          </p:cNvPr>
          <p:cNvSpPr txBox="1"/>
          <p:nvPr/>
        </p:nvSpPr>
        <p:spPr>
          <a:xfrm>
            <a:off x="341642" y="160774"/>
            <a:ext cx="11364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Ранее полученные результаты запуска </a:t>
            </a:r>
            <a:r>
              <a:rPr lang="en-US" sz="3600" dirty="0">
                <a:solidFill>
                  <a:schemeClr val="bg1"/>
                </a:solidFill>
              </a:rPr>
              <a:t>NAS CG</a:t>
            </a:r>
            <a:r>
              <a:rPr lang="ru-RU" sz="36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9DD51-0274-E4BD-DFA8-F40256B175FE}"/>
              </a:ext>
            </a:extLst>
          </p:cNvPr>
          <p:cNvSpPr txBox="1"/>
          <p:nvPr/>
        </p:nvSpPr>
        <p:spPr>
          <a:xfrm>
            <a:off x="341642" y="1081451"/>
            <a:ext cx="11113477" cy="97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/>
              <a:t>Класс </a:t>
            </a:r>
            <a:r>
              <a:rPr lang="en-US" sz="2000" dirty="0"/>
              <a:t>B. </a:t>
            </a:r>
            <a:r>
              <a:rPr lang="ru-RU" sz="2000" dirty="0"/>
              <a:t>75000 элементов.</a:t>
            </a:r>
          </a:p>
          <a:p>
            <a:pPr>
              <a:lnSpc>
                <a:spcPct val="150000"/>
              </a:lnSpc>
            </a:pPr>
            <a:r>
              <a:rPr lang="ru-RU" sz="2000" dirty="0"/>
              <a:t>Параллельная версия на </a:t>
            </a:r>
            <a:r>
              <a:rPr lang="en-US" sz="2000" dirty="0" err="1"/>
              <a:t>Argobots</a:t>
            </a:r>
            <a:r>
              <a:rPr lang="en-US" sz="2000" dirty="0"/>
              <a:t> </a:t>
            </a:r>
            <a:r>
              <a:rPr lang="ru-RU" sz="2000" dirty="0"/>
              <a:t>работает дольше  последовательной</a:t>
            </a:r>
            <a:r>
              <a:rPr lang="en-US" sz="2000" dirty="0"/>
              <a:t>.</a:t>
            </a:r>
            <a:endParaRPr lang="ru-RU" sz="2000" dirty="0"/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38FE36C3-934E-68E3-C639-BB28A612D6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8407715"/>
              </p:ext>
            </p:extLst>
          </p:nvPr>
        </p:nvGraphicFramePr>
        <p:xfrm>
          <a:off x="225251" y="2277936"/>
          <a:ext cx="5058164" cy="3787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06FF634A-05DC-4505-B3E7-7924480616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8595968"/>
              </p:ext>
            </p:extLst>
          </p:nvPr>
        </p:nvGraphicFramePr>
        <p:xfrm>
          <a:off x="5283415" y="2552282"/>
          <a:ext cx="6882284" cy="3666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33324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CBDBD-E514-311F-2EE3-3D3857509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353ADF-3692-E04F-34CB-99D249B13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5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8D6A2-4675-1746-CD08-4FD5440CACAB}"/>
              </a:ext>
            </a:extLst>
          </p:cNvPr>
          <p:cNvSpPr txBox="1"/>
          <p:nvPr/>
        </p:nvSpPr>
        <p:spPr>
          <a:xfrm>
            <a:off x="341642" y="160774"/>
            <a:ext cx="11364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Планировщик задач</a:t>
            </a:r>
            <a:r>
              <a:rPr lang="en-US" sz="3600" dirty="0">
                <a:solidFill>
                  <a:schemeClr val="bg1"/>
                </a:solidFill>
              </a:rPr>
              <a:t> (scheduler, </a:t>
            </a:r>
            <a:r>
              <a:rPr lang="ru-RU" sz="3600" dirty="0" err="1">
                <a:solidFill>
                  <a:schemeClr val="bg1"/>
                </a:solidFill>
              </a:rPr>
              <a:t>скедулер</a:t>
            </a:r>
            <a:r>
              <a:rPr lang="ru-RU" sz="3600" dirty="0">
                <a:solidFill>
                  <a:schemeClr val="bg1"/>
                </a:solidFill>
              </a:rPr>
              <a:t>)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FC8E0C-0F04-3F15-73A1-6D74F2B1A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606" y="1344656"/>
            <a:ext cx="9124757" cy="47691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83FDF4-33ED-55E4-4E67-8B896A9F59C8}"/>
              </a:ext>
            </a:extLst>
          </p:cNvPr>
          <p:cNvSpPr txBox="1"/>
          <p:nvPr/>
        </p:nvSpPr>
        <p:spPr>
          <a:xfrm>
            <a:off x="2330728" y="6058272"/>
            <a:ext cx="7386512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Упрощённая схема планировщика языка </a:t>
            </a:r>
            <a:r>
              <a:rPr lang="en-US" sz="2400" dirty="0"/>
              <a:t>Golang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9253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BE821-AED2-472E-990E-1AA149FD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35F914-B194-3D7C-0D74-CC3D67CA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6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665680-7833-A290-ED5D-FE178377115C}"/>
              </a:ext>
            </a:extLst>
          </p:cNvPr>
          <p:cNvSpPr txBox="1"/>
          <p:nvPr/>
        </p:nvSpPr>
        <p:spPr>
          <a:xfrm>
            <a:off x="90433" y="247057"/>
            <a:ext cx="12101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Performance-Effective and Low-Complexity Task Scheduling for Heterogeneous Computing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7A49B-21E5-23A5-24C4-4C315FDB6AA7}"/>
              </a:ext>
            </a:extLst>
          </p:cNvPr>
          <p:cNvSpPr txBox="1"/>
          <p:nvPr/>
        </p:nvSpPr>
        <p:spPr>
          <a:xfrm>
            <a:off x="341643" y="1245997"/>
            <a:ext cx="11113477" cy="502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Хорошо формализованное описание различных статических алгоритмов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Описаны собственные алгоритмы</a:t>
            </a:r>
            <a:r>
              <a:rPr lang="en-US" sz="2400" dirty="0"/>
              <a:t>:</a:t>
            </a:r>
            <a:r>
              <a:rPr lang="ru-RU" sz="2400" dirty="0"/>
              <a:t> </a:t>
            </a:r>
            <a:r>
              <a:rPr lang="en-US" sz="2400" dirty="0"/>
              <a:t>HEFT</a:t>
            </a:r>
            <a:r>
              <a:rPr lang="ru-RU" sz="2400" dirty="0"/>
              <a:t> (</a:t>
            </a:r>
            <a:r>
              <a:rPr lang="en-US" sz="2400" dirty="0"/>
              <a:t>Heterogeneous Earliest-Finish-Time) </a:t>
            </a:r>
            <a:r>
              <a:rPr lang="ru-RU" sz="2400" dirty="0"/>
              <a:t>и </a:t>
            </a:r>
            <a:r>
              <a:rPr lang="en-US" sz="2400" dirty="0"/>
              <a:t>CPOP (Critical-Path-on-a-Processor);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Сравнение полученных алгоритмов с аналогами сразу по нескольким метрикам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Показано превосходство </a:t>
            </a:r>
            <a:r>
              <a:rPr lang="en-US" sz="2400" dirty="0"/>
              <a:t>HEFT;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dirty="0"/>
              <a:t>Интересный подход – генерация тестовых данных по набору параметров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dirty="0"/>
              <a:t>Ещё один интересный подход. Реализовали алгоритм, дальше пробуем менять часть его параметров, может быть какие-то используемые функции</a:t>
            </a:r>
            <a:r>
              <a:rPr lang="en-US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94155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0D91C-CF7D-C1C0-A357-E70EE7F14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AD40B5-95C9-D528-77D3-D525B5F5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1E5C5-9D73-95A5-26C5-C7FBE58272D3}"/>
              </a:ext>
            </a:extLst>
          </p:cNvPr>
          <p:cNvSpPr txBox="1"/>
          <p:nvPr/>
        </p:nvSpPr>
        <p:spPr>
          <a:xfrm>
            <a:off x="90433" y="247057"/>
            <a:ext cx="12101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Task Parallel Assembly Language for Uncompromising Parallelism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567E8-FD02-50B0-AFF6-C73E68E9BFB5}"/>
              </a:ext>
            </a:extLst>
          </p:cNvPr>
          <p:cNvSpPr txBox="1"/>
          <p:nvPr/>
        </p:nvSpPr>
        <p:spPr>
          <a:xfrm>
            <a:off x="371140" y="1226332"/>
            <a:ext cx="11113477" cy="447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Разработан </a:t>
            </a:r>
            <a:r>
              <a:rPr lang="en-US" sz="2400" dirty="0"/>
              <a:t>TPAL – Task Parallel Assembly Language;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Показана его эффективность (от -10</a:t>
            </a:r>
            <a:r>
              <a:rPr lang="en-US" sz="2400" dirty="0"/>
              <a:t>% </a:t>
            </a:r>
            <a:r>
              <a:rPr lang="ru-RU" sz="2400" dirty="0"/>
              <a:t>до +53% - прирост скорости относительно </a:t>
            </a:r>
            <a:r>
              <a:rPr lang="en-US" sz="2400" dirty="0" err="1"/>
              <a:t>Cilk</a:t>
            </a:r>
            <a:r>
              <a:rPr lang="ru-RU" sz="2400" dirty="0"/>
              <a:t>)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Большое количество бенчмарков и графиков в статье</a:t>
            </a:r>
            <a:r>
              <a:rPr lang="en-US" sz="2400" dirty="0"/>
              <a:t>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Для работы использует принцип </a:t>
            </a:r>
            <a:r>
              <a:rPr lang="en-US" sz="2400" dirty="0"/>
              <a:t>heartbeat scheduling;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Требуются доработки на уровне компилятора и операционной системы</a:t>
            </a:r>
            <a:r>
              <a:rPr lang="en-US" sz="2400" dirty="0"/>
              <a:t>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Используются интересные техники на разных уровнях. На данный момент скорее интересно с теоретической точки зрения.</a:t>
            </a:r>
          </a:p>
        </p:txBody>
      </p:sp>
    </p:spTree>
    <p:extLst>
      <p:ext uri="{BB962C8B-B14F-4D97-AF65-F5344CB8AC3E}">
        <p14:creationId xmlns:p14="http://schemas.microsoft.com/office/powerpoint/2010/main" val="3652596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9307B-4870-F446-431E-143D6ECB6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9EFEF8-2439-B6E5-F4BB-BEC7A420D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036" y="2703006"/>
            <a:ext cx="7095127" cy="342561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E1A0DA-5D79-A34A-367B-15FACA475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8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7E662F-A013-9363-661A-58EFE6F4C4FC}"/>
              </a:ext>
            </a:extLst>
          </p:cNvPr>
          <p:cNvSpPr txBox="1"/>
          <p:nvPr/>
        </p:nvSpPr>
        <p:spPr>
          <a:xfrm>
            <a:off x="90433" y="247057"/>
            <a:ext cx="12101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Планировщик задач с аппаратной поддержкой для многопроцессорных систем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F5E18-2E70-66B4-509E-4FC94BE0F24C}"/>
              </a:ext>
            </a:extLst>
          </p:cNvPr>
          <p:cNvSpPr txBox="1"/>
          <p:nvPr/>
        </p:nvSpPr>
        <p:spPr>
          <a:xfrm>
            <a:off x="341643" y="1245997"/>
            <a:ext cx="11113477" cy="447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Уровень абстракции ниже, чем нам требуется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Много теории: недетерминированные автоматы</a:t>
            </a:r>
            <a:r>
              <a:rPr lang="en-US" sz="2400" dirty="0"/>
              <a:t>,</a:t>
            </a:r>
            <a:r>
              <a:rPr lang="ru-RU" sz="2400" dirty="0"/>
              <a:t> системы канонических уравнений</a:t>
            </a:r>
            <a:r>
              <a:rPr lang="en-US" sz="2400" dirty="0"/>
              <a:t>. </a:t>
            </a:r>
            <a:r>
              <a:rPr lang="ru-RU" sz="2400" dirty="0"/>
              <a:t>Также много схем взаимодействия</a:t>
            </a:r>
            <a:r>
              <a:rPr lang="en-US" sz="2400" dirty="0"/>
              <a:t>; 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Полезные идеи: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dirty="0"/>
              <a:t>глобальный предварительный </a:t>
            </a:r>
            <a:br>
              <a:rPr lang="ru-RU" sz="2400" dirty="0"/>
            </a:br>
            <a:r>
              <a:rPr lang="ru-RU" sz="2400" dirty="0"/>
              <a:t>планировщик</a:t>
            </a:r>
            <a:r>
              <a:rPr lang="en-US" sz="2400" dirty="0"/>
              <a:t>;</a:t>
            </a:r>
            <a:endParaRPr lang="ru-RU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dirty="0"/>
              <a:t>локальные планировщики</a:t>
            </a:r>
            <a:r>
              <a:rPr lang="en-US" sz="2400" dirty="0"/>
              <a:t>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2400" dirty="0"/>
              <a:t>локальная очередь задач</a:t>
            </a:r>
            <a:r>
              <a:rPr lang="en-US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8638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0B24-4810-255C-046A-B9E5A2406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0C4AD2-7378-60E3-363F-4417856E4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42" y="2881293"/>
            <a:ext cx="8002996" cy="3657619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CF05C4-3894-608A-1505-768EF8D82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9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0344F-2EC3-D239-4728-B6FF5A19D6EF}"/>
              </a:ext>
            </a:extLst>
          </p:cNvPr>
          <p:cNvSpPr txBox="1"/>
          <p:nvPr/>
        </p:nvSpPr>
        <p:spPr>
          <a:xfrm>
            <a:off x="341642" y="160774"/>
            <a:ext cx="11364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Go’s work-stealing scheduler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5733D9-BCB0-1293-E995-E321E74CA5AC}"/>
              </a:ext>
            </a:extLst>
          </p:cNvPr>
          <p:cNvSpPr txBox="1"/>
          <p:nvPr/>
        </p:nvSpPr>
        <p:spPr>
          <a:xfrm>
            <a:off x="5240593" y="1016355"/>
            <a:ext cx="6951407" cy="2255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Описаны два различных подхода: </a:t>
            </a:r>
            <a:r>
              <a:rPr lang="en-US" sz="2400" dirty="0"/>
              <a:t>work-sharing </a:t>
            </a:r>
            <a:r>
              <a:rPr lang="ru-RU" sz="2400" dirty="0"/>
              <a:t>и </a:t>
            </a:r>
            <a:r>
              <a:rPr lang="en-US" sz="2400" dirty="0"/>
              <a:t>work-stealing;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Планировщик управляется </a:t>
            </a:r>
            <a:r>
              <a:rPr lang="ru-RU" sz="2400" dirty="0" err="1"/>
              <a:t>рантаймом</a:t>
            </a:r>
            <a:r>
              <a:rPr lang="ru-RU" sz="2400" dirty="0"/>
              <a:t> языка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Важная идея – забираем у другого случайного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3564A7-41D6-5C14-40C1-DCC52905C880}"/>
              </a:ext>
            </a:extLst>
          </p:cNvPr>
          <p:cNvSpPr txBox="1"/>
          <p:nvPr/>
        </p:nvSpPr>
        <p:spPr>
          <a:xfrm>
            <a:off x="7452851" y="3271396"/>
            <a:ext cx="6951407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процессора половину его задач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3798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DCF2-5B81-7421-7A1F-0EC52080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4B7BB0-43D8-4A24-8BF7-0BD3E691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67CC-CB90-4A98-9AE2-791F6193C32F}" type="slidenum">
              <a:rPr lang="ru-RU" smtClean="0"/>
              <a:t>10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A85B9-FB7B-324B-D7C4-B3788FA1F41F}"/>
              </a:ext>
            </a:extLst>
          </p:cNvPr>
          <p:cNvSpPr txBox="1"/>
          <p:nvPr/>
        </p:nvSpPr>
        <p:spPr>
          <a:xfrm>
            <a:off x="341642" y="160774"/>
            <a:ext cx="11364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Дальнейшие планы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59163-EBA6-EB73-9C1F-15D765B8DE4F}"/>
              </a:ext>
            </a:extLst>
          </p:cNvPr>
          <p:cNvSpPr txBox="1"/>
          <p:nvPr/>
        </p:nvSpPr>
        <p:spPr>
          <a:xfrm>
            <a:off x="341643" y="1245997"/>
            <a:ext cx="11113477" cy="5579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Реализовать тест </a:t>
            </a:r>
            <a:r>
              <a:rPr lang="en-US" sz="2400" dirty="0"/>
              <a:t>jac3d; (</a:t>
            </a:r>
            <a:r>
              <a:rPr lang="ru-RU" sz="2400" dirty="0"/>
              <a:t>начало января 2025)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Довести до стабильно работающего состояния метод сдваивания</a:t>
            </a:r>
            <a:r>
              <a:rPr lang="en-US" sz="2400" dirty="0"/>
              <a:t>; </a:t>
            </a:r>
            <a:r>
              <a:rPr lang="ru-RU" sz="2400" dirty="0"/>
              <a:t>(середина января 2025)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Добиться ускорения параллельной версии теста </a:t>
            </a:r>
            <a:r>
              <a:rPr lang="en-US" sz="2400" dirty="0"/>
              <a:t>NAS CG; </a:t>
            </a:r>
            <a:r>
              <a:rPr lang="ru-RU" sz="2400" dirty="0"/>
              <a:t>(середина января 2025)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Реализовать первую версию планировщика (стратегию планировщика) с использованием </a:t>
            </a:r>
            <a:r>
              <a:rPr lang="en-US" sz="2400" dirty="0"/>
              <a:t>work-stealing; </a:t>
            </a:r>
            <a:r>
              <a:rPr lang="ru-RU" sz="2400" dirty="0"/>
              <a:t>(начало февраля 2025)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Использовать новые возможности планировщика в тестах </a:t>
            </a:r>
            <a:r>
              <a:rPr lang="en-US" sz="2400" dirty="0"/>
              <a:t>NAS CG </a:t>
            </a:r>
            <a:r>
              <a:rPr lang="ru-RU" sz="2400" dirty="0"/>
              <a:t>и </a:t>
            </a:r>
            <a:r>
              <a:rPr lang="en-US" sz="2400" dirty="0"/>
              <a:t>jac3d. </a:t>
            </a:r>
            <a:r>
              <a:rPr lang="ru-RU" sz="2400" dirty="0"/>
              <a:t>Добиться ускорения их работы. (середина февраля 2025)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772427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Argobots Reduction</Template>
  <TotalTime>358</TotalTime>
  <Words>531</Words>
  <Application>Microsoft Office PowerPoint</Application>
  <PresentationFormat>Широкоэкранный</PresentationFormat>
  <Paragraphs>70</Paragraphs>
  <Slides>10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Тема Office</vt:lpstr>
      <vt:lpstr>Автоматизация разработки параллельных программ с помощью библиотеки легковесных нитей пользовательского уровня  Отчёт за осенний семестр 2024 года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Рябыкин Владислав</dc:creator>
  <cp:lastModifiedBy>Рябыкин Владислав</cp:lastModifiedBy>
  <cp:revision>20</cp:revision>
  <dcterms:created xsi:type="dcterms:W3CDTF">2024-12-26T04:54:07Z</dcterms:created>
  <dcterms:modified xsi:type="dcterms:W3CDTF">2024-12-26T11:33:12Z</dcterms:modified>
</cp:coreProperties>
</file>