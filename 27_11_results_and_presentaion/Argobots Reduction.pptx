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62" r:id="rId4"/>
    <p:sldId id="273" r:id="rId5"/>
    <p:sldId id="260" r:id="rId6"/>
    <p:sldId id="261" r:id="rId7"/>
    <p:sldId id="257" r:id="rId8"/>
    <p:sldId id="258" r:id="rId9"/>
    <p:sldId id="259" r:id="rId10"/>
    <p:sldId id="267" r:id="rId11"/>
    <p:sldId id="274" r:id="rId12"/>
    <p:sldId id="268" r:id="rId13"/>
    <p:sldId id="269" r:id="rId14"/>
    <p:sldId id="270" r:id="rId15"/>
    <p:sldId id="271" r:id="rId16"/>
    <p:sldId id="265" r:id="rId17"/>
    <p:sldId id="26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yaby\Documents\Argobots%20valu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yaby\Documents\Argobots%20valu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yaby\Documents\Argobots%20valu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yaby\Documents\Argobots%20valu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S.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Лист1!$F$17:$M$17</c:f>
              <c:numCache>
                <c:formatCode>0.00</c:formatCode>
                <c:ptCount val="8"/>
                <c:pt idx="0">
                  <c:v>0.04</c:v>
                </c:pt>
                <c:pt idx="1">
                  <c:v>0.02</c:v>
                </c:pt>
                <c:pt idx="2">
                  <c:v>0.01</c:v>
                </c:pt>
                <c:pt idx="3">
                  <c:v>0.01</c:v>
                </c:pt>
                <c:pt idx="4">
                  <c:v>0.1</c:v>
                </c:pt>
                <c:pt idx="5">
                  <c:v>0.18</c:v>
                </c:pt>
                <c:pt idx="6">
                  <c:v>0.36</c:v>
                </c:pt>
                <c:pt idx="7">
                  <c:v>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05-41CE-B8E0-B30A7A61D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S. </a:t>
            </a:r>
            <a:r>
              <a:rPr lang="ru-RU" baseline="0" dirty="0"/>
              <a:t>Зависимость ускорения (раз)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tx>
            <c:strRef>
              <c:f>Лист1!$F$3</c:f>
              <c:strCache>
                <c:ptCount val="1"/>
                <c:pt idx="0">
                  <c:v>1,00</c:v>
                </c:pt>
              </c:strCache>
            </c:strRef>
          </c:tx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Лист1!$F$18:$M$18</c:f>
              <c:numCache>
                <c:formatCode>0.00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0.39999999999999997</c:v>
                </c:pt>
                <c:pt idx="5">
                  <c:v>0.22222222222222224</c:v>
                </c:pt>
                <c:pt idx="6">
                  <c:v>0.11111111111111112</c:v>
                </c:pt>
                <c:pt idx="7">
                  <c:v>6.0606060606060608E-2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8B-447F-B00E-42B3F5CD65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W.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Лист1!$F$22:$M$22</c:f>
              <c:numCache>
                <c:formatCode>0.00</c:formatCode>
                <c:ptCount val="8"/>
                <c:pt idx="0">
                  <c:v>0.24</c:v>
                </c:pt>
                <c:pt idx="1">
                  <c:v>0.12</c:v>
                </c:pt>
                <c:pt idx="2">
                  <c:v>7.0000000000000007E-2</c:v>
                </c:pt>
                <c:pt idx="3">
                  <c:v>0.05</c:v>
                </c:pt>
                <c:pt idx="4">
                  <c:v>0.15</c:v>
                </c:pt>
                <c:pt idx="5">
                  <c:v>0.23</c:v>
                </c:pt>
                <c:pt idx="6">
                  <c:v>0.39</c:v>
                </c:pt>
                <c:pt idx="7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62-4018-810E-714A68004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W. </a:t>
            </a:r>
            <a:r>
              <a:rPr lang="ru-RU" baseline="0" dirty="0"/>
              <a:t>Зависимость ускорения (раз)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tx>
            <c:strRef>
              <c:f>Лист1!$F$3</c:f>
              <c:strCache>
                <c:ptCount val="1"/>
                <c:pt idx="0">
                  <c:v>1,00</c:v>
                </c:pt>
              </c:strCache>
            </c:strRef>
          </c:tx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Лист1!$F$23:$M$23</c:f>
              <c:numCache>
                <c:formatCode>0.00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3.4285714285714279</c:v>
                </c:pt>
                <c:pt idx="3">
                  <c:v>4.8</c:v>
                </c:pt>
                <c:pt idx="4">
                  <c:v>1.6</c:v>
                </c:pt>
                <c:pt idx="5">
                  <c:v>1.0434782608695652</c:v>
                </c:pt>
                <c:pt idx="6">
                  <c:v>0.61538461538461531</c:v>
                </c:pt>
                <c:pt idx="7">
                  <c:v>0.34285714285714286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0F-4F27-B7EE-D18B354DBC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A.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Лист1!$F$2:$M$2</c:f>
              <c:numCache>
                <c:formatCode>0.00</c:formatCode>
                <c:ptCount val="8"/>
                <c:pt idx="0">
                  <c:v>1.02</c:v>
                </c:pt>
                <c:pt idx="1">
                  <c:v>0.51</c:v>
                </c:pt>
                <c:pt idx="2">
                  <c:v>0.25</c:v>
                </c:pt>
                <c:pt idx="3">
                  <c:v>0.18</c:v>
                </c:pt>
                <c:pt idx="4">
                  <c:v>0.3</c:v>
                </c:pt>
                <c:pt idx="5">
                  <c:v>0.39</c:v>
                </c:pt>
                <c:pt idx="6">
                  <c:v>0.54</c:v>
                </c:pt>
                <c:pt idx="7">
                  <c:v>0.83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F1-485D-95E4-67D9815706B5}"/>
            </c:ext>
          </c:extLst>
        </c:ser>
        <c:ser>
          <c:idx val="0"/>
          <c:order val="1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Лист1!$F$2:$M$2</c:f>
              <c:numCache>
                <c:formatCode>0.00</c:formatCode>
                <c:ptCount val="8"/>
                <c:pt idx="0">
                  <c:v>1.02</c:v>
                </c:pt>
                <c:pt idx="1">
                  <c:v>0.51</c:v>
                </c:pt>
                <c:pt idx="2">
                  <c:v>0.25</c:v>
                </c:pt>
                <c:pt idx="3">
                  <c:v>0.18</c:v>
                </c:pt>
                <c:pt idx="4">
                  <c:v>0.3</c:v>
                </c:pt>
                <c:pt idx="5">
                  <c:v>0.39</c:v>
                </c:pt>
                <c:pt idx="6">
                  <c:v>0.54</c:v>
                </c:pt>
                <c:pt idx="7">
                  <c:v>0.83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F1-485D-95E4-67D9815706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A. </a:t>
            </a:r>
            <a:r>
              <a:rPr lang="ru-RU" baseline="0" dirty="0"/>
              <a:t>Зависимость ускорения (раз)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tx>
            <c:strRef>
              <c:f>Лист1!$F$3</c:f>
              <c:strCache>
                <c:ptCount val="1"/>
                <c:pt idx="0">
                  <c:v>1,00</c:v>
                </c:pt>
              </c:strCache>
            </c:strRef>
          </c:tx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Лист1!$F$3:$M$3</c:f>
              <c:numCache>
                <c:formatCode>0.00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4.08</c:v>
                </c:pt>
                <c:pt idx="3">
                  <c:v>5.666666666666667</c:v>
                </c:pt>
                <c:pt idx="4">
                  <c:v>3.4000000000000004</c:v>
                </c:pt>
                <c:pt idx="5">
                  <c:v>2.6153846153846154</c:v>
                </c:pt>
                <c:pt idx="6">
                  <c:v>1.8888888888888888</c:v>
                </c:pt>
                <c:pt idx="7">
                  <c:v>1.2289156626506026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FA-4A4E-8B97-5F6883687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B.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Лист1!$F$7:$M$7</c:f>
              <c:numCache>
                <c:formatCode>0.00</c:formatCode>
                <c:ptCount val="8"/>
                <c:pt idx="0">
                  <c:v>42.29</c:v>
                </c:pt>
                <c:pt idx="1">
                  <c:v>22.55</c:v>
                </c:pt>
                <c:pt idx="2">
                  <c:v>12.13</c:v>
                </c:pt>
                <c:pt idx="3">
                  <c:v>9.91</c:v>
                </c:pt>
                <c:pt idx="4">
                  <c:v>9.31</c:v>
                </c:pt>
                <c:pt idx="5">
                  <c:v>9.98</c:v>
                </c:pt>
                <c:pt idx="6">
                  <c:v>11.18</c:v>
                </c:pt>
                <c:pt idx="7">
                  <c:v>13.14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ED-4627-B388-1D2F397838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B. </a:t>
            </a:r>
            <a:r>
              <a:rPr lang="ru-RU" baseline="0" dirty="0"/>
              <a:t>Зависимость ускорения (раз)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tx>
            <c:strRef>
              <c:f>Лист1!$F$3</c:f>
              <c:strCache>
                <c:ptCount val="1"/>
                <c:pt idx="0">
                  <c:v>1,00</c:v>
                </c:pt>
              </c:strCache>
            </c:strRef>
          </c:tx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Лист1!$F$8:$M$8</c:f>
              <c:numCache>
                <c:formatCode>0.00</c:formatCode>
                <c:ptCount val="8"/>
                <c:pt idx="0">
                  <c:v>1</c:v>
                </c:pt>
                <c:pt idx="1">
                  <c:v>1.8753880266075387</c:v>
                </c:pt>
                <c:pt idx="2">
                  <c:v>3.486397361912613</c:v>
                </c:pt>
                <c:pt idx="3">
                  <c:v>4.2674066599394553</c:v>
                </c:pt>
                <c:pt idx="4">
                  <c:v>4.5424274973147147</c:v>
                </c:pt>
                <c:pt idx="5">
                  <c:v>4.2374749498997994</c:v>
                </c:pt>
                <c:pt idx="6">
                  <c:v>3.7826475849731662</c:v>
                </c:pt>
                <c:pt idx="7">
                  <c:v>3.2184170471841704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F-4D9D-956C-D31C294CA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C.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Лист1!$F$12:$M$12</c:f>
              <c:numCache>
                <c:formatCode>0.00</c:formatCode>
                <c:ptCount val="8"/>
                <c:pt idx="0">
                  <c:v>142.78</c:v>
                </c:pt>
                <c:pt idx="1">
                  <c:v>73.66</c:v>
                </c:pt>
                <c:pt idx="2">
                  <c:v>39.47</c:v>
                </c:pt>
                <c:pt idx="3">
                  <c:v>33.76</c:v>
                </c:pt>
                <c:pt idx="4">
                  <c:v>34.409999999999997</c:v>
                </c:pt>
                <c:pt idx="5">
                  <c:v>34.93</c:v>
                </c:pt>
                <c:pt idx="6">
                  <c:v>34.64</c:v>
                </c:pt>
                <c:pt idx="7">
                  <c:v>36.979999999999997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1F-42F0-B18C-2841CF312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C. </a:t>
            </a:r>
            <a:r>
              <a:rPr lang="ru-RU" baseline="0" dirty="0"/>
              <a:t>Зависимость ускорения (раз)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1"/>
          <c:order val="0"/>
          <c:tx>
            <c:strRef>
              <c:f>Лист1!$F$3</c:f>
              <c:strCache>
                <c:ptCount val="1"/>
                <c:pt idx="0">
                  <c:v>1,00</c:v>
                </c:pt>
              </c:strCache>
            </c:strRef>
          </c:tx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Лист1!$F$13:$M$13</c:f>
              <c:numCache>
                <c:formatCode>0.00</c:formatCode>
                <c:ptCount val="8"/>
                <c:pt idx="0">
                  <c:v>1</c:v>
                </c:pt>
                <c:pt idx="1">
                  <c:v>1.9383654629378226</c:v>
                </c:pt>
                <c:pt idx="2">
                  <c:v>3.6174309602229542</c:v>
                </c:pt>
                <c:pt idx="3">
                  <c:v>4.2292654028436019</c:v>
                </c:pt>
                <c:pt idx="4">
                  <c:v>4.1493751816332463</c:v>
                </c:pt>
                <c:pt idx="5">
                  <c:v>4.0876037789865443</c:v>
                </c:pt>
                <c:pt idx="6">
                  <c:v>4.121824480369515</c:v>
                </c:pt>
                <c:pt idx="7">
                  <c:v>3.8610059491617092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5A-43E8-86FA-29996FE36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Класс </a:t>
            </a:r>
            <a:r>
              <a:rPr lang="en-US"/>
              <a:t>S. </a:t>
            </a:r>
            <a:r>
              <a:rPr lang="ru-RU"/>
              <a:t>Зависимость</a:t>
            </a:r>
            <a:r>
              <a:rPr lang="ru-RU" baseline="0"/>
              <a:t> минимального времени работы (кроме 1 треда), времени работы 1 треда, максимального времени работы (кроме 1 треда) от значения </a:t>
            </a:r>
            <a:r>
              <a:rPr lang="en-US" baseline="0"/>
              <a:t>xstreams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min время (кроме 1 треда)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Лист1!$O$18:$O$22</c:f>
              <c:numCache>
                <c:formatCode>0.00</c:formatCode>
                <c:ptCount val="5"/>
                <c:pt idx="0">
                  <c:v>0.04</c:v>
                </c:pt>
                <c:pt idx="1">
                  <c:v>0.04</c:v>
                </c:pt>
                <c:pt idx="2">
                  <c:v>0.04</c:v>
                </c:pt>
                <c:pt idx="3">
                  <c:v>0.06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0-4429-9375-3AAA2C1E315E}"/>
            </c:ext>
          </c:extLst>
        </c:ser>
        <c:ser>
          <c:idx val="1"/>
          <c:order val="1"/>
          <c:tx>
            <c:v>Время 1 тред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Лист1!$F$18:$F$22</c:f>
              <c:numCache>
                <c:formatCode>0.00</c:formatCode>
                <c:ptCount val="5"/>
                <c:pt idx="0">
                  <c:v>0.04</c:v>
                </c:pt>
                <c:pt idx="1">
                  <c:v>0.04</c:v>
                </c:pt>
                <c:pt idx="2" formatCode="General">
                  <c:v>0.06</c:v>
                </c:pt>
                <c:pt idx="3" formatCode="General">
                  <c:v>0.06</c:v>
                </c:pt>
                <c:pt idx="4" formatCode="General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30-4429-9375-3AAA2C1E315E}"/>
            </c:ext>
          </c:extLst>
        </c:ser>
        <c:ser>
          <c:idx val="2"/>
          <c:order val="2"/>
          <c:tx>
            <c:v>max время (кроме 1 треда)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Лист1!$Q$18:$Q$22</c:f>
              <c:numCache>
                <c:formatCode>0.00</c:formatCode>
                <c:ptCount val="5"/>
                <c:pt idx="0">
                  <c:v>0.27</c:v>
                </c:pt>
                <c:pt idx="1">
                  <c:v>0.27</c:v>
                </c:pt>
                <c:pt idx="2">
                  <c:v>0.3</c:v>
                </c:pt>
                <c:pt idx="3">
                  <c:v>0.56999999999999995</c:v>
                </c:pt>
                <c:pt idx="4">
                  <c:v>6.52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30-4429-9375-3AAA2C1E31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0732288"/>
        <c:axId val="1460729408"/>
      </c:barChart>
      <c:catAx>
        <c:axId val="146073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</a:t>
                </a:r>
                <a:r>
                  <a:rPr lang="ru-RU" baseline="0"/>
                  <a:t> </a:t>
                </a:r>
                <a:r>
                  <a:rPr lang="en-US" baseline="0"/>
                  <a:t>xstreams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29408"/>
        <c:crosses val="autoZero"/>
        <c:auto val="1"/>
        <c:lblAlgn val="ctr"/>
        <c:lblOffset val="100"/>
        <c:noMultiLvlLbl val="0"/>
      </c:catAx>
      <c:valAx>
        <c:axId val="146072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</a:t>
                </a:r>
                <a:r>
                  <a:rPr lang="ru-RU" baseline="0"/>
                  <a:t> работы теста (с)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3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Класс </a:t>
            </a:r>
            <a:r>
              <a:rPr lang="en-US"/>
              <a:t>W. </a:t>
            </a:r>
            <a:r>
              <a:rPr lang="ru-RU"/>
              <a:t>Зависимость</a:t>
            </a:r>
            <a:r>
              <a:rPr lang="ru-RU" baseline="0"/>
              <a:t> минимального времени работы (кроме 1 треда), времени работы 1 треда, максимального времени работы (кроме 1 треда) от значения </a:t>
            </a:r>
            <a:r>
              <a:rPr lang="en-US" baseline="0"/>
              <a:t>xstreams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min время (кроме 1 треда)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Лист1!$O$26:$O$30</c:f>
              <c:numCache>
                <c:formatCode>0.00</c:formatCode>
                <c:ptCount val="5"/>
                <c:pt idx="0">
                  <c:v>0.26</c:v>
                </c:pt>
                <c:pt idx="1">
                  <c:v>0.25</c:v>
                </c:pt>
                <c:pt idx="2">
                  <c:v>0.26</c:v>
                </c:pt>
                <c:pt idx="3">
                  <c:v>0.37</c:v>
                </c:pt>
                <c:pt idx="4">
                  <c:v>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1-4CAC-B579-F897316C57A7}"/>
            </c:ext>
          </c:extLst>
        </c:ser>
        <c:ser>
          <c:idx val="1"/>
          <c:order val="1"/>
          <c:tx>
            <c:v>Время 1 тред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Лист1!$F$26:$F$30</c:f>
              <c:numCache>
                <c:formatCode>0.00</c:formatCode>
                <c:ptCount val="5"/>
                <c:pt idx="0">
                  <c:v>0.26</c:v>
                </c:pt>
                <c:pt idx="1">
                  <c:v>0.26</c:v>
                </c:pt>
                <c:pt idx="2" formatCode="General">
                  <c:v>0.35</c:v>
                </c:pt>
                <c:pt idx="3" formatCode="General">
                  <c:v>0.36</c:v>
                </c:pt>
                <c:pt idx="4" formatCode="General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A1-4CAC-B579-F897316C57A7}"/>
            </c:ext>
          </c:extLst>
        </c:ser>
        <c:ser>
          <c:idx val="2"/>
          <c:order val="2"/>
          <c:tx>
            <c:v>max время (кроме 1 треда)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Лист1!$Q$26:$Q$30</c:f>
              <c:numCache>
                <c:formatCode>0.00</c:formatCode>
                <c:ptCount val="5"/>
                <c:pt idx="0">
                  <c:v>0.48</c:v>
                </c:pt>
                <c:pt idx="1">
                  <c:v>0.48</c:v>
                </c:pt>
                <c:pt idx="2">
                  <c:v>0.5</c:v>
                </c:pt>
                <c:pt idx="3">
                  <c:v>0.86</c:v>
                </c:pt>
                <c:pt idx="4">
                  <c:v>6.79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A1-4CAC-B579-F897316C57A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0732288"/>
        <c:axId val="1460729408"/>
      </c:barChart>
      <c:catAx>
        <c:axId val="146073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</a:t>
                </a:r>
                <a:r>
                  <a:rPr lang="ru-RU" baseline="0"/>
                  <a:t> </a:t>
                </a:r>
                <a:r>
                  <a:rPr lang="en-US" baseline="0"/>
                  <a:t>xstreams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29408"/>
        <c:crosses val="autoZero"/>
        <c:auto val="1"/>
        <c:lblAlgn val="ctr"/>
        <c:lblOffset val="100"/>
        <c:noMultiLvlLbl val="0"/>
      </c:catAx>
      <c:valAx>
        <c:axId val="146072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</a:t>
                </a:r>
                <a:r>
                  <a:rPr lang="ru-RU" baseline="0"/>
                  <a:t> работы теста (с)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3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Класс </a:t>
            </a:r>
            <a:r>
              <a:rPr lang="en-US"/>
              <a:t>A. </a:t>
            </a:r>
            <a:r>
              <a:rPr lang="ru-RU"/>
              <a:t>Зависимость</a:t>
            </a:r>
            <a:r>
              <a:rPr lang="ru-RU" baseline="0"/>
              <a:t> минимального времени работы (кроме 1 треда), времени работы 1 треда, максимального времени работы (кроме 1 треда) от значения </a:t>
            </a:r>
            <a:r>
              <a:rPr lang="en-US" baseline="0"/>
              <a:t>xstreams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min время (кроме 1 треда)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Лист1!$O$2:$O$6</c:f>
              <c:numCache>
                <c:formatCode>0.00</c:formatCode>
                <c:ptCount val="5"/>
                <c:pt idx="0">
                  <c:v>1.06</c:v>
                </c:pt>
                <c:pt idx="1">
                  <c:v>1.04</c:v>
                </c:pt>
                <c:pt idx="2">
                  <c:v>1.06</c:v>
                </c:pt>
                <c:pt idx="3">
                  <c:v>1.32</c:v>
                </c:pt>
                <c:pt idx="4">
                  <c:v>3.86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48-465A-890F-9CED866A596E}"/>
            </c:ext>
          </c:extLst>
        </c:ser>
        <c:ser>
          <c:idx val="1"/>
          <c:order val="1"/>
          <c:tx>
            <c:v>Время 1 тред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Лист1!$F$2:$F$6</c:f>
              <c:numCache>
                <c:formatCode>0.00</c:formatCode>
                <c:ptCount val="5"/>
                <c:pt idx="0">
                  <c:v>1.08</c:v>
                </c:pt>
                <c:pt idx="1">
                  <c:v>1.02</c:v>
                </c:pt>
                <c:pt idx="2" formatCode="General">
                  <c:v>1.04</c:v>
                </c:pt>
                <c:pt idx="3" formatCode="General">
                  <c:v>1.38</c:v>
                </c:pt>
                <c:pt idx="4" formatCode="General">
                  <c:v>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48-465A-890F-9CED866A596E}"/>
            </c:ext>
          </c:extLst>
        </c:ser>
        <c:ser>
          <c:idx val="2"/>
          <c:order val="2"/>
          <c:tx>
            <c:v>max время (кроме 1 треда)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Лист1!$Q$2:$Q$6</c:f>
              <c:numCache>
                <c:formatCode>0.00</c:formatCode>
                <c:ptCount val="5"/>
                <c:pt idx="0">
                  <c:v>1.3</c:v>
                </c:pt>
                <c:pt idx="1">
                  <c:v>1.29</c:v>
                </c:pt>
                <c:pt idx="2">
                  <c:v>1.32</c:v>
                </c:pt>
                <c:pt idx="3">
                  <c:v>1.83</c:v>
                </c:pt>
                <c:pt idx="4">
                  <c:v>8.9600000000000009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48-465A-890F-9CED866A5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0732288"/>
        <c:axId val="1460729408"/>
      </c:barChart>
      <c:catAx>
        <c:axId val="146073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</a:t>
                </a:r>
                <a:r>
                  <a:rPr lang="ru-RU" baseline="0"/>
                  <a:t> </a:t>
                </a:r>
                <a:r>
                  <a:rPr lang="en-US" baseline="0"/>
                  <a:t>xstreams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29408"/>
        <c:crosses val="autoZero"/>
        <c:auto val="1"/>
        <c:lblAlgn val="ctr"/>
        <c:lblOffset val="100"/>
        <c:noMultiLvlLbl val="0"/>
      </c:catAx>
      <c:valAx>
        <c:axId val="146072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</a:t>
                </a:r>
                <a:r>
                  <a:rPr lang="ru-RU" baseline="0"/>
                  <a:t> работы теста (с)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3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Класс </a:t>
            </a:r>
            <a:r>
              <a:rPr lang="en-US"/>
              <a:t>B. </a:t>
            </a:r>
            <a:r>
              <a:rPr lang="ru-RU"/>
              <a:t>Зависимость</a:t>
            </a:r>
            <a:r>
              <a:rPr lang="ru-RU" baseline="0"/>
              <a:t> минимального времени работы (кроме 1 треда), времени работы 1 треда, максимального времени работы (кроме 1 треда) от значения </a:t>
            </a:r>
            <a:r>
              <a:rPr lang="en-US" baseline="0"/>
              <a:t>xstreams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min время (кроме 1 треда)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Лист1!$O$10:$O$14</c:f>
              <c:numCache>
                <c:formatCode>0.00</c:formatCode>
                <c:ptCount val="5"/>
                <c:pt idx="0">
                  <c:v>45.05</c:v>
                </c:pt>
                <c:pt idx="1">
                  <c:v>44.96</c:v>
                </c:pt>
                <c:pt idx="2">
                  <c:v>45.58</c:v>
                </c:pt>
                <c:pt idx="3">
                  <c:v>54</c:v>
                </c:pt>
                <c:pt idx="4">
                  <c:v>111.7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F-4A2F-B17E-DEDE484822E7}"/>
            </c:ext>
          </c:extLst>
        </c:ser>
        <c:ser>
          <c:idx val="1"/>
          <c:order val="1"/>
          <c:tx>
            <c:v>Время 1 тред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Лист1!$F$10:$F$14</c:f>
              <c:numCache>
                <c:formatCode>0.00</c:formatCode>
                <c:ptCount val="5"/>
                <c:pt idx="0">
                  <c:v>44.56</c:v>
                </c:pt>
                <c:pt idx="1">
                  <c:v>45.78</c:v>
                </c:pt>
                <c:pt idx="2" formatCode="General">
                  <c:v>46.91</c:v>
                </c:pt>
                <c:pt idx="3" formatCode="General">
                  <c:v>55.38</c:v>
                </c:pt>
                <c:pt idx="4" formatCode="General">
                  <c:v>108.65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FF-4A2F-B17E-DEDE484822E7}"/>
            </c:ext>
          </c:extLst>
        </c:ser>
        <c:ser>
          <c:idx val="2"/>
          <c:order val="2"/>
          <c:tx>
            <c:v>max время (кроме 1 треда)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Лист1!$E$2:$E$6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Лист1!$Q$10:$Q$14</c:f>
              <c:numCache>
                <c:formatCode>0.00</c:formatCode>
                <c:ptCount val="5"/>
                <c:pt idx="0">
                  <c:v>46.69</c:v>
                </c:pt>
                <c:pt idx="1">
                  <c:v>46.29</c:v>
                </c:pt>
                <c:pt idx="2">
                  <c:v>47.1</c:v>
                </c:pt>
                <c:pt idx="3">
                  <c:v>55.48</c:v>
                </c:pt>
                <c:pt idx="4">
                  <c:v>134.25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F-4A2F-B17E-DEDE484822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0732288"/>
        <c:axId val="1460729408"/>
      </c:barChart>
      <c:catAx>
        <c:axId val="146073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</a:t>
                </a:r>
                <a:r>
                  <a:rPr lang="ru-RU" baseline="0"/>
                  <a:t> </a:t>
                </a:r>
                <a:r>
                  <a:rPr lang="en-US" baseline="0"/>
                  <a:t>xstreams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29408"/>
        <c:crosses val="autoZero"/>
        <c:auto val="1"/>
        <c:lblAlgn val="ctr"/>
        <c:lblOffset val="100"/>
        <c:noMultiLvlLbl val="0"/>
      </c:catAx>
      <c:valAx>
        <c:axId val="146072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</a:t>
                </a:r>
                <a:r>
                  <a:rPr lang="ru-RU" baseline="0"/>
                  <a:t> работы теста (с)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3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C2D0F-FA49-46B2-A7D8-0BD019907A2A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A8AAF-6B13-4F44-BDB2-1D2B1FD32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72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581DD-7E4D-8092-16FE-D15B40D8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749324-2811-03B5-8178-047458726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DC53D7-941A-6964-9394-DAA6D369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FA6B7-0FE0-41FC-B940-20AFA1B1F3B3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78698-73B9-ED9C-DB50-B42D1875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4CC4D-C612-9F1F-FE69-6874C027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FDDC6-7357-A3C5-683F-96FB1349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79CD2-E9EC-E5DF-0070-D094D3FD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783818-4713-4281-0748-F22355E2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2D51-EDF0-4164-BC9D-534339A6EF92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56FFB-EDE2-428C-13BD-6EA7C6CD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1ED08-455A-FFF5-17A1-DCD61D0D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5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148A7-A6D7-5F22-D435-5A19060F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325430-457C-4105-A19B-919511CA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F850A-539E-AEE3-989E-EC50EBBC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0E66-68ED-4A4A-A24C-84B06D20722F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D38FAF-CA8A-53C4-00EA-DE1F339A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FCB4F-6AC2-0D1C-5DEA-47AF61B1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58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FC71D-44FF-7ABB-3692-42755577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8AEA7-1EC0-94CC-0C7D-ECB275713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521ED4-77BA-0908-4062-7E2402B1B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40B06A-A34A-3AB7-60D0-FD5A83DC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5392-D4E7-41F1-984A-32996EB868F8}" type="datetime1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56B9A-02D6-DAAC-5FEC-5B8180CC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282A07-BA5C-D763-8BE0-A4279109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38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2AA12-E4AD-E84A-B40C-5D06D9A1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6E1C2-815B-F13E-E3CD-8DBBAF0E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5C5CD-AF45-ED37-8316-1E88FC63A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70342-7FBC-DADA-35C5-A0516D22B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01EE68-A831-B4A3-F425-1D4E655B3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0663A5-B377-E028-47F7-744E4835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4D6F-6FE6-4D10-96D6-810A2D7A2338}" type="datetime1">
              <a:rPr lang="ru-RU" smtClean="0"/>
              <a:t>21.11.2024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7022E9-5FBD-7A2C-6E25-09EA567C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DABE11-935A-E930-6DA8-9A74A226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89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9C401-10CB-24DB-3A30-4DEFE5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D9600-47FB-6DBF-9990-B14ADEC5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B162-CD1E-4379-B744-419C51B6572A}" type="datetime1">
              <a:rPr lang="ru-RU" smtClean="0"/>
              <a:t>21.11.2024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CA0D7-B6F8-EEBA-760C-D9CEDA36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A881AC-D824-0EAB-A59C-104C5CC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77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54BA08-0DBB-C818-F0D3-570678D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B6B1-25CA-4779-A542-11992C7421E6}" type="datetime1">
              <a:rPr lang="ru-RU" smtClean="0"/>
              <a:t>21.11.2024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225B62-6199-33F4-51F8-2C29532D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95910C-9457-4407-60A3-9F5B9225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8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6FE55-71C2-A6F6-192F-5E96B47C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C3DD8-38FF-E184-9B56-41B56BE0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E7F3F3-1C03-5270-ADAB-7C3C029B1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2B236D-B71F-E4F3-5315-0B3B3DCB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2CD4-417F-4E3B-A726-891AA0D00591}" type="datetime1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5F91B8-C1CD-0290-5323-5109EA01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7F1551-D5A0-796F-0D74-088F6F9A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13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5D416-81B6-D098-E8CD-DCE7F30B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9D0D43-0B64-FCAF-3D80-9AB67862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344692-C836-2002-9653-91942B458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CC0282-4DD2-4B04-C175-51944302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7DA8-AA0E-4D64-A0D5-386395B502D3}" type="datetime1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14F2B-4926-790E-C637-5579F17F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668478-2F73-3014-CE12-784E18EE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0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4D57D-CA5A-3D62-AF2B-E52E9491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BA3280-3B3B-E171-76B3-7A42B0B5C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1C718C-EBB4-FE2A-BF28-1EF492AE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BA01-2769-4A36-A4D1-930A1AD6E3EA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73D1E-0EE1-6A99-68E7-15C72BCF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67BBA-9BCE-E19D-00C5-A865F35A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0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ADBA15-A8AF-2A36-8304-55EC56DD0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ACE381-F480-9BDF-174A-0FD3156DB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1291B-CDAF-C1A9-4BBC-0FAE1D68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B43B0-B137-46AD-B825-50C36698E66C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1248F-6E28-6174-BF7B-AA547B35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BF6AA2-7D91-5F8B-856A-AE011C36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1E26C-85FD-969D-BAEA-3A963A52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F60479-057C-A044-A41B-38ECBBF94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AF33-78D4-A1AB-E1EF-16508DE6C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F618-E582-48A0-9D27-9ACD42033384}" type="datetime1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B54D7-99A9-24B6-3A9A-D8CBD8C7F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6AA0F-9554-A1D0-EC5D-5612CEAD6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4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38B05-E4F1-FEB5-5D15-DD18E5C7C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Argobots</a:t>
            </a:r>
            <a:r>
              <a:rPr lang="en-US" dirty="0"/>
              <a:t> Reduction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64A1B4-4981-66B2-8B8F-7E5BAA8FA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Подготовил студент 427 группы</a:t>
            </a:r>
          </a:p>
          <a:p>
            <a:pPr algn="r"/>
            <a:r>
              <a:rPr lang="ru-RU" dirty="0"/>
              <a:t>Рябыкин Владислав Александрович</a:t>
            </a:r>
          </a:p>
          <a:p>
            <a:pPr algn="r"/>
            <a:r>
              <a:rPr lang="en-US" dirty="0"/>
              <a:t>21 </a:t>
            </a:r>
            <a:r>
              <a:rPr lang="ru-RU" dirty="0"/>
              <a:t>ноября 2024 года</a:t>
            </a:r>
          </a:p>
        </p:txBody>
      </p:sp>
    </p:spTree>
    <p:extLst>
      <p:ext uri="{BB962C8B-B14F-4D97-AF65-F5344CB8AC3E}">
        <p14:creationId xmlns:p14="http://schemas.microsoft.com/office/powerpoint/2010/main" val="426187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2DFF6-125C-922F-AFD3-4E87F5DC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сделано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6A5705-7975-E428-6B2E-7B0203BFC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Тесты </a:t>
            </a:r>
            <a:r>
              <a:rPr lang="en-US" dirty="0"/>
              <a:t>NAS CG </a:t>
            </a:r>
            <a:r>
              <a:rPr lang="ru-RU" dirty="0"/>
              <a:t>с реализацией на </a:t>
            </a:r>
            <a:r>
              <a:rPr lang="en-US" dirty="0" err="1"/>
              <a:t>Argobots</a:t>
            </a:r>
            <a:r>
              <a:rPr lang="ru-RU" dirty="0"/>
              <a:t> успешно</a:t>
            </a:r>
            <a:r>
              <a:rPr lang="en-US" dirty="0"/>
              <a:t> </a:t>
            </a:r>
            <a:r>
              <a:rPr lang="ru-RU" dirty="0"/>
              <a:t>проходят</a:t>
            </a:r>
            <a:r>
              <a:rPr lang="en-US" dirty="0"/>
              <a:t> (</a:t>
            </a:r>
            <a:r>
              <a:rPr lang="ru-RU" dirty="0"/>
              <a:t>сообщение </a:t>
            </a:r>
            <a:r>
              <a:rPr lang="en-US" dirty="0"/>
              <a:t>VERIFICTION SUCCESSFUL);</a:t>
            </a:r>
            <a:endParaRPr lang="ru-RU" dirty="0"/>
          </a:p>
          <a:p>
            <a:r>
              <a:rPr lang="ru-RU" dirty="0"/>
              <a:t>Создан набор скриптов для автоматического запуска тестирования и замеров результатов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Проведён запуск теста с различными параметрами</a:t>
            </a:r>
            <a:r>
              <a:rPr lang="en-US" dirty="0"/>
              <a:t>;</a:t>
            </a:r>
          </a:p>
          <a:p>
            <a:r>
              <a:rPr lang="ru-RU" dirty="0"/>
              <a:t>Одна из работающих реализаций тестов, код </a:t>
            </a:r>
            <a:r>
              <a:rPr lang="en-US" dirty="0" err="1"/>
              <a:t>argobots</a:t>
            </a:r>
            <a:r>
              <a:rPr lang="en-US" dirty="0"/>
              <a:t>, </a:t>
            </a:r>
            <a:r>
              <a:rPr lang="ru-RU" dirty="0"/>
              <a:t>вспомогательные скрипты, результаты запусков теста, сводные таблицы и графики загружены в репозиторий</a:t>
            </a:r>
            <a:r>
              <a:rPr lang="en-US" dirty="0"/>
              <a:t>;</a:t>
            </a:r>
          </a:p>
          <a:p>
            <a:r>
              <a:rPr lang="ru-RU" dirty="0"/>
              <a:t>Проанализированы результаты (в том числе с помощью графиков), сделаны выводы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3A2956-38B1-E803-08F2-63CCF370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59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03698-2ADD-773D-20C4-C1EE7DEE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машины для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DF130-692E-2225-CDCA-032BE68D9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Удалённая виртуальная машина в облаке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OS: Ubuntu 24.04 LTS;</a:t>
            </a:r>
            <a:endParaRPr lang="ru-RU" dirty="0"/>
          </a:p>
          <a:p>
            <a:r>
              <a:rPr lang="ru-RU" dirty="0"/>
              <a:t>Процессор: </a:t>
            </a:r>
            <a:r>
              <a:rPr lang="en-US" dirty="0"/>
              <a:t>Intel Ice Lake</a:t>
            </a:r>
            <a:r>
              <a:rPr lang="ru-RU" dirty="0"/>
              <a:t> (10 поколение)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 ГГц</a:t>
            </a:r>
            <a:r>
              <a:rPr lang="en-US" dirty="0"/>
              <a:t>;</a:t>
            </a:r>
          </a:p>
          <a:p>
            <a:r>
              <a:rPr lang="en-US" dirty="0"/>
              <a:t>vCPU: 8</a:t>
            </a:r>
            <a:r>
              <a:rPr lang="ru-RU" dirty="0"/>
              <a:t> ядер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Потоки: обещают 16 (судя по тестам в реальности 8)</a:t>
            </a:r>
            <a:r>
              <a:rPr lang="en-US" dirty="0"/>
              <a:t>;</a:t>
            </a:r>
          </a:p>
          <a:p>
            <a:r>
              <a:rPr lang="en-US" dirty="0"/>
              <a:t>RAM: 16 </a:t>
            </a:r>
            <a:r>
              <a:rPr lang="ru-RU" dirty="0"/>
              <a:t>ГБ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96E87A-88B3-7AAA-B0EF-69E5EA36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92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0CAFA-CFD6-CFE4-AAF1-7688E395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OpenMP. </a:t>
            </a:r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0FE3B3-DC49-19C8-21CB-0BA6CD9BE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Время работы программы усредняется по трём запускам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Параметры:</a:t>
            </a:r>
          </a:p>
          <a:p>
            <a:r>
              <a:rPr lang="ru-RU" dirty="0"/>
              <a:t>Класс теста (</a:t>
            </a:r>
            <a:r>
              <a:rPr lang="en-US" dirty="0"/>
              <a:t>S, W, A, B, C):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ru-RU" dirty="0"/>
              <a:t>Отличаются размером и числом итераций</a:t>
            </a:r>
            <a:r>
              <a:rPr lang="en-US" dirty="0"/>
              <a:t>;</a:t>
            </a:r>
          </a:p>
          <a:p>
            <a:r>
              <a:rPr lang="ru-RU" dirty="0"/>
              <a:t>Количество нитей</a:t>
            </a:r>
            <a:r>
              <a:rPr lang="en-US" dirty="0"/>
              <a:t>. OMP_NUM_THREADS:</a:t>
            </a:r>
          </a:p>
          <a:p>
            <a:pPr marL="0" indent="0">
              <a:buNone/>
            </a:pPr>
            <a:r>
              <a:rPr lang="en-US" dirty="0"/>
              <a:t>   1, 2, 4, 8, 16, 32, 64, 128.</a:t>
            </a:r>
          </a:p>
          <a:p>
            <a:pPr marL="0" indent="0">
              <a:buNone/>
            </a:pPr>
            <a:r>
              <a:rPr lang="ru-RU" dirty="0"/>
              <a:t>Графики строятся на основе:</a:t>
            </a:r>
          </a:p>
          <a:p>
            <a:r>
              <a:rPr lang="ru-RU" dirty="0"/>
              <a:t>Времени выполнения теста (</a:t>
            </a:r>
            <a:r>
              <a:rPr lang="en-US" dirty="0"/>
              <a:t>Time in seconds </a:t>
            </a:r>
            <a:r>
              <a:rPr lang="ru-RU" dirty="0"/>
              <a:t>в выводе теста)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Ускорение раз (время_</a:t>
            </a:r>
            <a:r>
              <a:rPr lang="en-US" dirty="0"/>
              <a:t>N</a:t>
            </a:r>
            <a:r>
              <a:rPr lang="ru-RU" dirty="0"/>
              <a:t>_нитей </a:t>
            </a:r>
            <a:r>
              <a:rPr lang="en-US" dirty="0"/>
              <a:t>/ </a:t>
            </a:r>
            <a:r>
              <a:rPr lang="ru-RU" dirty="0"/>
              <a:t>время_1_нить)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E82C26-2D29-8C4E-3547-A92F31C4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06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7B355-D6E3-AFA0-B7E0-199E26B4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DF497-3F5D-1F41-6BF5-78329EA2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OpenMP. </a:t>
            </a:r>
            <a:r>
              <a:rPr lang="ru-RU" dirty="0"/>
              <a:t>Класс </a:t>
            </a:r>
            <a:r>
              <a:rPr lang="en-US" dirty="0"/>
              <a:t>S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A663F-3AD1-B1A3-897F-09B311D5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15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1400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DF5E6-C522-6C8C-F348-7424B9FD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5</a:t>
            </a:fld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7F72DB2-E4FB-26AA-E70C-B39E0CDCC2CB}"/>
              </a:ext>
            </a:extLst>
          </p:cNvPr>
          <p:cNvGrpSpPr/>
          <p:nvPr/>
        </p:nvGrpSpPr>
        <p:grpSpPr>
          <a:xfrm>
            <a:off x="619432" y="2499799"/>
            <a:ext cx="10943303" cy="3993076"/>
            <a:chOff x="1324366" y="2019743"/>
            <a:chExt cx="9543267" cy="2818513"/>
          </a:xfrm>
        </p:grpSpPr>
        <p:graphicFrame>
          <p:nvGraphicFramePr>
            <p:cNvPr id="5" name="Диаграмма 4">
              <a:extLst>
                <a:ext uri="{FF2B5EF4-FFF2-40B4-BE49-F238E27FC236}">
                  <a16:creationId xmlns:a16="http://schemas.microsoft.com/office/drawing/2014/main" id="{C9FA1CD4-3FF1-43AE-96F8-7D81BEC4E42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05190195"/>
                </p:ext>
              </p:extLst>
            </p:nvPr>
          </p:nvGraphicFramePr>
          <p:xfrm>
            <a:off x="1324366" y="2019899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6" name="Диаграмма 5">
              <a:extLst>
                <a:ext uri="{FF2B5EF4-FFF2-40B4-BE49-F238E27FC236}">
                  <a16:creationId xmlns:a16="http://schemas.microsoft.com/office/drawing/2014/main" id="{B3C69F25-B801-4E9B-91E5-153535D9C1E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01434366"/>
                </p:ext>
              </p:extLst>
            </p:nvPr>
          </p:nvGraphicFramePr>
          <p:xfrm>
            <a:off x="6313900" y="2019743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8096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BD1E-4712-C741-F4A7-CAEEFFEF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3F5AF-4B18-CF63-5798-2F8AF636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OpenMP. </a:t>
            </a:r>
            <a:r>
              <a:rPr lang="ru-RU" dirty="0"/>
              <a:t>Класс </a:t>
            </a:r>
            <a:r>
              <a:rPr lang="en-US" dirty="0"/>
              <a:t>W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5A58B3-452E-A542-D1AF-5F3CCBBAB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15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7000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C284C3-2890-5EF5-39AB-C0CCA3F9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6</a:t>
            </a:fld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7FB54A9-7C65-76E2-E323-A2BF8E82810C}"/>
              </a:ext>
            </a:extLst>
          </p:cNvPr>
          <p:cNvGrpSpPr/>
          <p:nvPr/>
        </p:nvGrpSpPr>
        <p:grpSpPr>
          <a:xfrm>
            <a:off x="634181" y="2365068"/>
            <a:ext cx="10923638" cy="3856551"/>
            <a:chOff x="1324366" y="2019743"/>
            <a:chExt cx="9543266" cy="2818513"/>
          </a:xfrm>
        </p:grpSpPr>
        <p:graphicFrame>
          <p:nvGraphicFramePr>
            <p:cNvPr id="5" name="Диаграмма 4">
              <a:extLst>
                <a:ext uri="{FF2B5EF4-FFF2-40B4-BE49-F238E27FC236}">
                  <a16:creationId xmlns:a16="http://schemas.microsoft.com/office/drawing/2014/main" id="{CB439837-972F-4261-9263-9BCA8CC42D6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07960219"/>
                </p:ext>
              </p:extLst>
            </p:nvPr>
          </p:nvGraphicFramePr>
          <p:xfrm>
            <a:off x="1324366" y="2019899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6" name="Диаграмма 5">
              <a:extLst>
                <a:ext uri="{FF2B5EF4-FFF2-40B4-BE49-F238E27FC236}">
                  <a16:creationId xmlns:a16="http://schemas.microsoft.com/office/drawing/2014/main" id="{A9D69BC3-A28C-4BC2-8E72-4A8F9175B3B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48349134"/>
                </p:ext>
              </p:extLst>
            </p:nvPr>
          </p:nvGraphicFramePr>
          <p:xfrm>
            <a:off x="6313899" y="2019743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0403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CE820-EE70-0C45-DCA5-3A788B23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OpenMP. </a:t>
            </a:r>
            <a:r>
              <a:rPr lang="ru-RU" dirty="0"/>
              <a:t>Класс </a:t>
            </a:r>
            <a:r>
              <a:rPr lang="en-US" dirty="0"/>
              <a:t>A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ABCCEF-02CD-7B65-4361-63B4E99A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15</a:t>
            </a:r>
          </a:p>
          <a:p>
            <a:pPr marL="0" indent="0">
              <a:buNone/>
            </a:pPr>
            <a:r>
              <a:rPr lang="ru-RU" dirty="0"/>
              <a:t>Размер:       14000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4181B95-EA5A-33FB-E44F-B9D65A0403BC}"/>
              </a:ext>
            </a:extLst>
          </p:cNvPr>
          <p:cNvGrpSpPr/>
          <p:nvPr/>
        </p:nvGrpSpPr>
        <p:grpSpPr>
          <a:xfrm>
            <a:off x="884770" y="2365068"/>
            <a:ext cx="10422459" cy="3699694"/>
            <a:chOff x="1304702" y="2921784"/>
            <a:chExt cx="9543267" cy="2818513"/>
          </a:xfrm>
        </p:grpSpPr>
        <p:graphicFrame>
          <p:nvGraphicFramePr>
            <p:cNvPr id="6" name="Диаграмма 5">
              <a:extLst>
                <a:ext uri="{FF2B5EF4-FFF2-40B4-BE49-F238E27FC236}">
                  <a16:creationId xmlns:a16="http://schemas.microsoft.com/office/drawing/2014/main" id="{8C716E43-9567-DF3F-C580-71E6CB8C5AC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04941639"/>
                </p:ext>
              </p:extLst>
            </p:nvPr>
          </p:nvGraphicFramePr>
          <p:xfrm>
            <a:off x="1304702" y="2921940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7" name="Диаграмма 6">
              <a:extLst>
                <a:ext uri="{FF2B5EF4-FFF2-40B4-BE49-F238E27FC236}">
                  <a16:creationId xmlns:a16="http://schemas.microsoft.com/office/drawing/2014/main" id="{E2B25D3B-B12E-4163-8807-73DAA0036EC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45670957"/>
                </p:ext>
              </p:extLst>
            </p:nvPr>
          </p:nvGraphicFramePr>
          <p:xfrm>
            <a:off x="6294236" y="2921784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3F021C-0EAB-6DB7-2A2C-4EDB0874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2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CB82-F38E-4D80-3810-167EA42C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02CE7-B728-F030-7561-D3F882733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OpenMP. </a:t>
            </a:r>
            <a:r>
              <a:rPr lang="ru-RU" dirty="0"/>
              <a:t>Класс </a:t>
            </a:r>
            <a:r>
              <a:rPr lang="en-US" dirty="0"/>
              <a:t>B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0AFB1-1814-C686-9EE5-572390969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75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75000</a:t>
            </a: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74D7049-1EA2-575D-80E3-2A01027BACBC}"/>
              </a:ext>
            </a:extLst>
          </p:cNvPr>
          <p:cNvGrpSpPr/>
          <p:nvPr/>
        </p:nvGrpSpPr>
        <p:grpSpPr>
          <a:xfrm>
            <a:off x="838200" y="2534573"/>
            <a:ext cx="10600403" cy="3787569"/>
            <a:chOff x="1324366" y="2019743"/>
            <a:chExt cx="9543267" cy="2818513"/>
          </a:xfrm>
        </p:grpSpPr>
        <p:graphicFrame>
          <p:nvGraphicFramePr>
            <p:cNvPr id="9" name="Диаграмма 8">
              <a:extLst>
                <a:ext uri="{FF2B5EF4-FFF2-40B4-BE49-F238E27FC236}">
                  <a16:creationId xmlns:a16="http://schemas.microsoft.com/office/drawing/2014/main" id="{6E53CD8A-71A6-4E31-93F9-8544314ED6D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02399139"/>
                </p:ext>
              </p:extLst>
            </p:nvPr>
          </p:nvGraphicFramePr>
          <p:xfrm>
            <a:off x="1324366" y="2019899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0" name="Диаграмма 9">
              <a:extLst>
                <a:ext uri="{FF2B5EF4-FFF2-40B4-BE49-F238E27FC236}">
                  <a16:creationId xmlns:a16="http://schemas.microsoft.com/office/drawing/2014/main" id="{62D00C68-0BF5-4670-A3AB-4217CCD7866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3809152"/>
                </p:ext>
              </p:extLst>
            </p:nvPr>
          </p:nvGraphicFramePr>
          <p:xfrm>
            <a:off x="6313900" y="2019743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62418D18-24AA-D353-4857-05C781CD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7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5579-9EE6-10C5-39DE-CFE1E64D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79C7C-3228-5F28-B422-2C60F658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OpenMP. </a:t>
            </a:r>
            <a:r>
              <a:rPr lang="ru-RU" dirty="0"/>
              <a:t>Класс </a:t>
            </a:r>
            <a:r>
              <a:rPr lang="en-US" dirty="0"/>
              <a:t>C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66A89-520A-1409-337C-D3380BE1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75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150000</a:t>
            </a:r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BF10E90-2A19-34E2-49B9-88A58400517B}"/>
              </a:ext>
            </a:extLst>
          </p:cNvPr>
          <p:cNvGrpSpPr/>
          <p:nvPr/>
        </p:nvGrpSpPr>
        <p:grpSpPr>
          <a:xfrm>
            <a:off x="838200" y="2365068"/>
            <a:ext cx="10515600" cy="4006013"/>
            <a:chOff x="1324366" y="2019743"/>
            <a:chExt cx="9543267" cy="2818513"/>
          </a:xfrm>
        </p:grpSpPr>
        <p:graphicFrame>
          <p:nvGraphicFramePr>
            <p:cNvPr id="4" name="Диаграмма 3">
              <a:extLst>
                <a:ext uri="{FF2B5EF4-FFF2-40B4-BE49-F238E27FC236}">
                  <a16:creationId xmlns:a16="http://schemas.microsoft.com/office/drawing/2014/main" id="{B530B60D-BCA3-4D6B-ACC4-92EB53D1DB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59460602"/>
                </p:ext>
              </p:extLst>
            </p:nvPr>
          </p:nvGraphicFramePr>
          <p:xfrm>
            <a:off x="1324366" y="2019899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Диаграмма 4">
              <a:extLst>
                <a:ext uri="{FF2B5EF4-FFF2-40B4-BE49-F238E27FC236}">
                  <a16:creationId xmlns:a16="http://schemas.microsoft.com/office/drawing/2014/main" id="{BCF64431-AEBB-4913-A75A-B04B0D89B9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13975760"/>
                </p:ext>
              </p:extLst>
            </p:nvPr>
          </p:nvGraphicFramePr>
          <p:xfrm>
            <a:off x="6313900" y="2019743"/>
            <a:ext cx="4553733" cy="28183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63FF3C-1659-536F-BE30-1CE70F0E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01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8AB0C-4403-022B-870F-4402C4C9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OpenMP. </a:t>
            </a:r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BF292-D5C0-68EB-A4C0-774EAA91B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2, 4 и 8 нитей всегда дают ускорение времени работы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Наибольшее ускорение в основном достигается на 8 нитях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На маленьких тестах при большом числе нитей заметное замедление скорости работы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На больших тестах при большом числе нитей также заметно замедление, но не </a:t>
            </a:r>
            <a:r>
              <a:rPr lang="ru-RU"/>
              <a:t>такое сильное</a:t>
            </a:r>
            <a:r>
              <a:rPr lang="en-US"/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9B1084-C49D-62CF-E959-34D4A2CB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332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7716-F7DE-7257-7367-BA2CF1C8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5BF59-C4E6-C7D6-4C28-A7126D48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27FA24-5060-3990-2FEB-8258FFE4E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Время работы программы усредняется по трём запускам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Параметры:</a:t>
            </a:r>
          </a:p>
          <a:p>
            <a:r>
              <a:rPr lang="ru-RU" dirty="0"/>
              <a:t>Класс теста (</a:t>
            </a:r>
            <a:r>
              <a:rPr lang="en-US" dirty="0"/>
              <a:t>S, W, A, B):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ru-RU" dirty="0"/>
              <a:t>Отличаются размером и числом итераций</a:t>
            </a:r>
            <a:r>
              <a:rPr lang="en-US" dirty="0"/>
              <a:t>;</a:t>
            </a:r>
          </a:p>
          <a:p>
            <a:r>
              <a:rPr lang="ru-RU" dirty="0"/>
              <a:t>Количество </a:t>
            </a:r>
            <a:r>
              <a:rPr lang="en-US" dirty="0" err="1"/>
              <a:t>xstreams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1, 2, 4, 8, 16;</a:t>
            </a:r>
          </a:p>
          <a:p>
            <a:r>
              <a:rPr lang="ru-RU" dirty="0"/>
              <a:t>Число </a:t>
            </a:r>
            <a:r>
              <a:rPr lang="en-US" dirty="0" err="1"/>
              <a:t>num_threads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1, 2, 4, 8, 16, 32, 64, 128.</a:t>
            </a:r>
          </a:p>
          <a:p>
            <a:pPr marL="0" indent="0">
              <a:buNone/>
            </a:pPr>
            <a:r>
              <a:rPr lang="ru-RU" dirty="0"/>
              <a:t>Графики строятся на основе:</a:t>
            </a:r>
          </a:p>
          <a:p>
            <a:r>
              <a:rPr lang="ru-RU" dirty="0"/>
              <a:t>Времени выполнения теста</a:t>
            </a:r>
            <a:r>
              <a:rPr lang="en-US" dirty="0"/>
              <a:t>  </a:t>
            </a:r>
            <a:r>
              <a:rPr lang="ru-RU" dirty="0"/>
              <a:t>на 1 треде (</a:t>
            </a:r>
            <a:r>
              <a:rPr lang="en-US" dirty="0"/>
              <a:t>Time in seconds </a:t>
            </a:r>
            <a:r>
              <a:rPr lang="ru-RU" dirty="0"/>
              <a:t>в выводе теста)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Минимальном и максимальном времени теста (кроме случая 1 треда)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8432A2-B850-33F0-1733-680F5DC7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56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97EB-DF54-6073-2C2A-F609FA71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3390A-45D8-D42B-2420-5796C98B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Класс </a:t>
            </a:r>
            <a:r>
              <a:rPr lang="en-US" dirty="0"/>
              <a:t>S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859EB-EE85-D32A-22C1-FAF709926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15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1400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FA022E-5E19-BA94-53B0-58DA5EFC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28D38AC9-280E-42CF-899C-D91A2D4ED6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9586854"/>
              </p:ext>
            </p:extLst>
          </p:nvPr>
        </p:nvGraphicFramePr>
        <p:xfrm>
          <a:off x="374261" y="2365068"/>
          <a:ext cx="10979539" cy="4356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85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C28C-873D-88CE-BB32-4FB89D39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8FCB0-6067-FA49-AAD7-8FBA2CE0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Класс </a:t>
            </a:r>
            <a:r>
              <a:rPr lang="en-US" dirty="0"/>
              <a:t>W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16791-0A7C-18B3-3B0B-8D2ED71F6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15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7000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3A5C9E-50FF-7944-62C8-7F8A84DD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3E902AE8-4ADE-47FD-8674-C7D582FC95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861635"/>
              </p:ext>
            </p:extLst>
          </p:nvPr>
        </p:nvGraphicFramePr>
        <p:xfrm>
          <a:off x="86096" y="2163097"/>
          <a:ext cx="11267704" cy="449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589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1148-457A-327E-1166-498E0C73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0382E-64AE-422B-6E0C-51E17989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Класс </a:t>
            </a:r>
            <a:r>
              <a:rPr lang="en-US" dirty="0"/>
              <a:t>A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4C3F6-E930-74EE-0634-81CCE06C0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15</a:t>
            </a:r>
          </a:p>
          <a:p>
            <a:pPr marL="0" indent="0">
              <a:buNone/>
            </a:pPr>
            <a:r>
              <a:rPr lang="ru-RU" dirty="0"/>
              <a:t>Размер:       14000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DFAB85-6C71-AC25-6E6D-0C2FF123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213C67D-1787-AC5A-7F87-B1DF3883FD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739721"/>
              </p:ext>
            </p:extLst>
          </p:nvPr>
        </p:nvGraphicFramePr>
        <p:xfrm>
          <a:off x="127084" y="2006651"/>
          <a:ext cx="11937832" cy="4576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131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7B86-2F61-D802-E81F-BC068E9A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CD1E2-803B-7515-041C-DE53DF72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73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Класс </a:t>
            </a:r>
            <a:r>
              <a:rPr lang="en-US" dirty="0"/>
              <a:t>B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64933B-CE83-B605-8463-6379439C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Итерации: </a:t>
            </a:r>
            <a:r>
              <a:rPr lang="en-US" dirty="0"/>
              <a:t>75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Размер:       </a:t>
            </a:r>
            <a:r>
              <a:rPr lang="en-US" dirty="0"/>
              <a:t>75000</a:t>
            </a:r>
            <a:endParaRPr lang="ru-RU" dirty="0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AD4785A5-3D65-DD18-51B6-9C1B8B32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06FF634A-05DC-4505-B3E7-7924480616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090984"/>
              </p:ext>
            </p:extLst>
          </p:nvPr>
        </p:nvGraphicFramePr>
        <p:xfrm>
          <a:off x="0" y="2172929"/>
          <a:ext cx="11978084" cy="4685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333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6F1D3-D0A2-AA0B-D7FD-3CD8B699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Argobots</a:t>
            </a:r>
            <a:r>
              <a:rPr lang="en-US" dirty="0"/>
              <a:t>. </a:t>
            </a:r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1D628A-7D03-4800-32DB-04D41EDC5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 на одном треде почти всегда самый быстрый (на втором месте запуск на двух тредах)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Увеличение </a:t>
            </a:r>
            <a:r>
              <a:rPr lang="en-US" dirty="0" err="1"/>
              <a:t>xstreams</a:t>
            </a:r>
            <a:r>
              <a:rPr lang="en-US" dirty="0"/>
              <a:t> </a:t>
            </a:r>
            <a:r>
              <a:rPr lang="ru-RU" dirty="0"/>
              <a:t>почти всегда приводит к замедлению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Текущая параллельная реализация в основном медленнее последовательной</a:t>
            </a:r>
            <a:r>
              <a:rPr lang="en-US" dirty="0"/>
              <a:t>;</a:t>
            </a:r>
          </a:p>
          <a:p>
            <a:r>
              <a:rPr lang="ru-RU" dirty="0"/>
              <a:t>Ускорение может быть получено после реализации метода сдваивания (на данный момент </a:t>
            </a:r>
            <a:r>
              <a:rPr lang="en-US" dirty="0"/>
              <a:t>Work In Progress);</a:t>
            </a:r>
            <a:endParaRPr lang="ru-RU" dirty="0"/>
          </a:p>
          <a:p>
            <a:r>
              <a:rPr lang="ru-RU" dirty="0"/>
              <a:t>Также проблема может быть в самой реализации теста</a:t>
            </a:r>
            <a:r>
              <a:rPr lang="en-US" dirty="0"/>
              <a:t>;</a:t>
            </a:r>
          </a:p>
          <a:p>
            <a:r>
              <a:rPr lang="ru-RU" dirty="0"/>
              <a:t>Общий итог – заметное отставание по скорости от </a:t>
            </a:r>
            <a:r>
              <a:rPr lang="en-US" dirty="0"/>
              <a:t>OpenMP.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F587C1-D3AA-68C7-24E0-3E726817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53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77BA-C066-6CCF-01E9-FF77A214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планы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4499DB-8796-E4EB-F53F-7E41AA9A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Согласовать тему ВКР (до 1 декабря)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Ускорить тесты и достигнуть результаты сопоставимые с </a:t>
            </a:r>
            <a:r>
              <a:rPr lang="en-US" dirty="0"/>
              <a:t>OpenMP. </a:t>
            </a:r>
            <a:r>
              <a:rPr lang="ru-RU" dirty="0"/>
              <a:t>В этом должна помочь корректная реализация метода сдваивания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/</a:t>
            </a:r>
            <a:r>
              <a:rPr lang="ru-RU" dirty="0"/>
              <a:t>или доработка теста</a:t>
            </a:r>
            <a:r>
              <a:rPr lang="en-US" dirty="0"/>
              <a:t>;</a:t>
            </a:r>
          </a:p>
          <a:p>
            <a:r>
              <a:rPr lang="ru-RU" dirty="0"/>
              <a:t>Произвести повторные замеры и сравнения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Начать работу над планировщиком (</a:t>
            </a:r>
            <a:r>
              <a:rPr lang="en-US" dirty="0"/>
              <a:t>scheduler)</a:t>
            </a:r>
            <a:r>
              <a:rPr lang="ru-RU" dirty="0"/>
              <a:t> (?)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8D7784-9888-BE50-EFDA-BE2F7035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1248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874</Words>
  <Application>Microsoft Office PowerPoint</Application>
  <PresentationFormat>Широкоэкранный</PresentationFormat>
  <Paragraphs>121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Тема Office</vt:lpstr>
      <vt:lpstr>Argobots Reduction</vt:lpstr>
      <vt:lpstr>Что сделано</vt:lpstr>
      <vt:lpstr>Характеристики машины для тестирования</vt:lpstr>
      <vt:lpstr>OpenMP. Тестирование</vt:lpstr>
      <vt:lpstr>OpenMP. Класс S </vt:lpstr>
      <vt:lpstr>OpenMP. Класс W </vt:lpstr>
      <vt:lpstr>OpenMP. Класс A </vt:lpstr>
      <vt:lpstr>OpenMP. Класс B </vt:lpstr>
      <vt:lpstr>OpenMP. Класс C </vt:lpstr>
      <vt:lpstr>OpenMP. Выводы</vt:lpstr>
      <vt:lpstr>Argobots. Тестирование</vt:lpstr>
      <vt:lpstr>Argobots. Класс S </vt:lpstr>
      <vt:lpstr>Argobots. Класс W </vt:lpstr>
      <vt:lpstr>Argobots. Класс A </vt:lpstr>
      <vt:lpstr>Argobots. Класс B </vt:lpstr>
      <vt:lpstr>Argobots. Выводы</vt:lpstr>
      <vt:lpstr>Дальнейшие планы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Рябыкин Владислав</dc:creator>
  <cp:lastModifiedBy>Рябыкин Владислав</cp:lastModifiedBy>
  <cp:revision>16</cp:revision>
  <dcterms:created xsi:type="dcterms:W3CDTF">2024-11-21T08:56:27Z</dcterms:created>
  <dcterms:modified xsi:type="dcterms:W3CDTF">2024-11-21T11:28:35Z</dcterms:modified>
</cp:coreProperties>
</file>